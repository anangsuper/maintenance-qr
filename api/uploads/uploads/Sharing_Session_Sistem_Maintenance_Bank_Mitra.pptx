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pagi/siang rekan-rekan dan bapak/ibu sekalian. Pada sesi sharing hari ini, saya akan memaparkan sistem terpadu yang telah kita bangun bersama: Sistem Informasi Manajemen Aset, Pemeliharaan IT &amp; Sarana Prasarana berbasis QR Code. Sistem ini telah aktif beroperasi di server lokal bank 192.168.88.163.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ini membahas masalah nyata yang kita hadapi sehari-hari: dulu form servis dicetak di kertas dan mudah hilang, SDM dan IT punya catatan masing-masing sehingga mutasi staf membingungkan, PC kasir teller sering mati mendadak saat antrean ramai, dan saat ada audit kita panik mencari berkas fisik.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Sering kali aplikasi ini dianggap hanya untuk IT. Sebenarnya tidak! Ini adalah platform kolaborasi terpadu. SDM mengelola barang fisik dan mutasi BAST, IT mengontrol software dan mesin, Pimpinan Cabang memantau denah meja kerjanya secara visual, dan Auditor SKAI memegang log audit yang tidak bisa dimanipulasi.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Teknisi kita tidak perlu lagi membawa map berisi tumpukan kertas form ke kantor cabang. Cukup buka kamera HP, scan stiker QR di PC, centang 9 poin checklist, ambil foto bukti, dan klik simpan. Prosesnya selesai dalam 5 menit per meja dan data langsung tersimpan di database.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Fitur Denah Meja 2D adalah favorit para Pimpinan Cabang. Sekarang dari layar komputer atau tablet, kepala cabang bisa melihat denah kantornya. Jika ada meja berkedip merah, berarti PC di meja tersebut sedang mengalami masalah dan teknisi sedang menanganinya.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Bagi Divisi SDM dan Umum, aplikasi ini mempermudah pembuatan Kartu Inventaris Ruangan (KIR). Saat ada teller baru atau staf dipindah ke kantor cabang lain, BAST Serah Terima tercetak otomatis dengan nomor seri PC yang akurat. Tidak ada lagi aset yang hilang atau tertukar tanpa jejak.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Ruang server adalah jantung operasional bank. Dengan sistem ini, siapa pun yang masuk—baik teknisi AC, teknisi internet, atau auditor eksternal—wajib memindai QR di pintu, mengisi data, foto identitas, dan mencatat suhu. Jika terjadi masalah pada server, kita punya bukti lengkap siapa yang berada di dalam pada jam tersebut.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Bagi Auditor SKAI dan tim kepatuhan, keunggulan utama sistem ini ada pada Audit Trail permanen. Siapa yang menambah barang, siapa yang mengedit spesifikasi, siapa yang menyetujui memo—semuanya tercatat otomatis beserta IP address dan jamnya. Administrator sekalipun tidak bisa menghapus jejak tersebut.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ini dibangun selaras dengan 6 pilar standar tata kelola dan ketahanan siber perbankan terkini. Kita beralih dari yang sebelumnya hanya mengandalkan kertas formalitas, menjadi sistem otomatis yang aktif mencegah kegagalan operasional dan melindungi data nasabah.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 depan, sistem ini akan kita kembangkan lebih lanjut dengan 4 fitur tambahan: pencatatan insiden siber resmi 1x24 jam, sensor IoT otomatis di ruang server agar kita tidak cemas saat AC mati di malam hari, pencatatan uji coba DRP tahunan, dan tiket helpdesk otomatis.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Kesimpulannya, penerapan sistem ini memberikan manfaat bagi semua lini: Direksi mendapatkan transparansi aset dan rasa aman, Pimpinan Cabang dan Karyawan menikmati kelancaran komputer kasir, SDM tidak lagi pusing menyusun buku KIR, dan SKAI selalu siap menghadapi audit kapan pun.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Demikian paparan pengenalan sistem kita hari ini. Sekarang saya persilakan kepada bapak/ibu dan rekan-rekan untuk mengajukan pertanyaan, saran, maupun masukan. Selanjutnya kita bisa langsung mendemonstrasikan fitur-fiturnya di layar.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942"/>
          </a:solidFill>
          <a:ln>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822960"/>
            <a:ext cx="10728655" cy="5212080"/>
          </a:xfrm>
          <a:prstGeom prst="roundRect">
            <a:avLst/>
          </a:prstGeom>
          <a:solidFill>
            <a:srgbClr val="1A3D5E"/>
          </a:solidFill>
          <a:ln w="19050">
            <a:solidFill>
              <a:srgbClr val="295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88720" y="1280160"/>
            <a:ext cx="3291840" cy="384048"/>
          </a:xfrm>
          <a:prstGeom prst="roundRect">
            <a:avLst/>
          </a:prstGeom>
          <a:solidFill>
            <a:srgbClr val="0D6EFD"/>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i="0">
                <a:solidFill>
                  <a:srgbClr val="FFFFFF"/>
                </a:solidFill>
                <a:latin typeface="Calibri"/>
              </a:rPr>
              <a:t>INTERNAL SHARING SESSION • 2026</a:t>
            </a:r>
          </a:p>
        </p:txBody>
      </p:sp>
      <p:sp>
        <p:nvSpPr>
          <p:cNvPr id="5" name="TextBox 4"/>
          <p:cNvSpPr txBox="1"/>
          <p:nvPr/>
        </p:nvSpPr>
        <p:spPr>
          <a:xfrm>
            <a:off x="1188720" y="1874519"/>
            <a:ext cx="9784080" cy="2103120"/>
          </a:xfrm>
          <a:prstGeom prst="rect">
            <a:avLst/>
          </a:prstGeom>
          <a:noFill/>
        </p:spPr>
        <p:txBody>
          <a:bodyPr wrap="square">
            <a:spAutoFit/>
          </a:bodyPr>
          <a:lstStyle/>
          <a:p>
            <a:pPr>
              <a:spcAft>
                <a:spcPts val="800"/>
              </a:spcAft>
            </a:pPr>
            <a:r>
              <a:rPr sz="3200" b="1" i="0">
                <a:solidFill>
                  <a:srgbClr val="FFFFFF"/>
                </a:solidFill>
                <a:latin typeface="Calibri"/>
              </a:rPr>
              <a:t>Sistem Terpadu Pemeliharaan IT &amp;
Manajemen Sarana Prasarana (QR-System)</a:t>
            </a:r>
          </a:p>
          <a:p>
            <a:r>
              <a:rPr sz="1400" b="0" i="0">
                <a:solidFill>
                  <a:srgbClr val="CBD5E1"/>
                </a:solidFill>
                <a:latin typeface="Calibri"/>
              </a:rPr>
              <a:t>Mewujudkan Efisiensi Operasional, Sinergi Lintas Divisi (IT, SDM &amp; Pincab), serta Kesiapan Kepatuhan Digital Perbankan</a:t>
            </a:r>
          </a:p>
        </p:txBody>
      </p:sp>
      <p:sp>
        <p:nvSpPr>
          <p:cNvPr id="6" name="Rectangle 5"/>
          <p:cNvSpPr/>
          <p:nvPr/>
        </p:nvSpPr>
        <p:spPr>
          <a:xfrm>
            <a:off x="1188720" y="4160520"/>
            <a:ext cx="9784080" cy="36576"/>
          </a:xfrm>
          <a:prstGeom prst="rect">
            <a:avLst/>
          </a:prstGeom>
          <a:solidFill>
            <a:srgbClr val="4172A3"/>
          </a:solidFill>
          <a:ln>
            <a:solidFill>
              <a:srgbClr val="4172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343400"/>
            <a:ext cx="9784080" cy="1371600"/>
          </a:xfrm>
          <a:prstGeom prst="rect">
            <a:avLst/>
          </a:prstGeom>
          <a:noFill/>
        </p:spPr>
        <p:txBody>
          <a:bodyPr wrap="square">
            <a:spAutoFit/>
          </a:bodyPr>
          <a:lstStyle/>
          <a:p>
            <a:r>
              <a:rPr sz="1100" b="1" i="0">
                <a:solidFill>
                  <a:srgbClr val="93C5FD"/>
                </a:solidFill>
                <a:latin typeface="Calibri"/>
              </a:rPr>
              <a:t>Instansi: </a:t>
            </a:r>
            <a:r>
              <a:rPr sz="1100" b="0" i="0">
                <a:solidFill>
                  <a:srgbClr val="FFFFFF"/>
                </a:solidFill>
                <a:latin typeface="Calibri"/>
              </a:rPr>
              <a:t>PT. BPR Mitratama Arthabuana  |  </a:t>
            </a:r>
            <a:r>
              <a:rPr sz="1100" b="1" i="0">
                <a:solidFill>
                  <a:srgbClr val="93C5FD"/>
                </a:solidFill>
                <a:latin typeface="Calibri"/>
              </a:rPr>
              <a:t>Lingkungan Produksi: </a:t>
            </a:r>
            <a:r>
              <a:rPr sz="1100" b="0" i="0">
                <a:solidFill>
                  <a:srgbClr val="FFFFFF"/>
                </a:solidFill>
                <a:latin typeface="Calibri"/>
              </a:rPr>
              <a:t>http://192.168.88.163  |  </a:t>
            </a:r>
            <a:r>
              <a:rPr sz="1100" b="1" i="0">
                <a:solidFill>
                  <a:srgbClr val="93C5FD"/>
                </a:solidFill>
                <a:latin typeface="Calibri"/>
              </a:rPr>
              <a:t>Cakupan: </a:t>
            </a:r>
            <a:r>
              <a:rPr sz="1100" b="0" i="0">
                <a:solidFill>
                  <a:srgbClr val="FFFFFF"/>
                </a:solidFill>
                <a:latin typeface="Calibri"/>
              </a:rPr>
              <a:t>Kantor Pusat Operasional &amp; Seluruh Kantor Cabang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942"/>
          </a:solidFill>
          <a:ln>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D6EFD"/>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tIns="0" bIns="0" lIns="0" rIns="0">
            <a:spAutoFit/>
          </a:bodyPr>
          <a:lstStyle/>
          <a:p>
            <a:pPr>
              <a:spcAft>
                <a:spcPts val="200"/>
              </a:spcAft>
            </a:pPr>
            <a:r>
              <a:rPr sz="950" b="1" i="0">
                <a:solidFill>
                  <a:srgbClr val="93C5FD"/>
                </a:solidFill>
                <a:latin typeface="Calibri"/>
              </a:rPr>
              <a:t>1. URGENSI KEBUTUHAN</a:t>
            </a:r>
          </a:p>
          <a:p>
            <a:r>
              <a:rPr sz="2000" b="1" i="0">
                <a:solidFill>
                  <a:srgbClr val="FFFFFF"/>
                </a:solidFill>
                <a:latin typeface="Calibri"/>
              </a:rPr>
              <a:t>Mengapa Sistem Ini Dibangun? (Latar Belakang &amp; Masalah Riil)</a:t>
            </a:r>
          </a:p>
        </p:txBody>
      </p:sp>
      <p:sp>
        <p:nvSpPr>
          <p:cNvPr id="5" name="TextBox 4"/>
          <p:cNvSpPr txBox="1"/>
          <p:nvPr/>
        </p:nvSpPr>
        <p:spPr>
          <a:xfrm>
            <a:off x="9601200" y="182880"/>
            <a:ext cx="1828800" cy="685800"/>
          </a:xfrm>
          <a:prstGeom prst="rect">
            <a:avLst/>
          </a:prstGeom>
          <a:noFill/>
        </p:spPr>
        <p:txBody>
          <a:bodyPr wrap="square">
            <a:spAutoFit/>
          </a:bodyPr>
          <a:lstStyle/>
          <a:p>
            <a:pPr algn="r"/>
            <a:r>
              <a:rPr sz="1000" b="1" i="0">
                <a:solidFill>
                  <a:srgbClr val="CBD5E1"/>
                </a:solidFill>
                <a:latin typeface="Calibri"/>
              </a:rPr>
              <a:t>BANK MITRA  |  02/12</a:t>
            </a:r>
          </a:p>
        </p:txBody>
      </p:sp>
      <p:sp>
        <p:nvSpPr>
          <p:cNvPr id="6" name="TextBox 5"/>
          <p:cNvSpPr txBox="1"/>
          <p:nvPr/>
        </p:nvSpPr>
        <p:spPr>
          <a:xfrm>
            <a:off x="731520" y="6537960"/>
            <a:ext cx="10728655" cy="274320"/>
          </a:xfrm>
          <a:prstGeom prst="rect">
            <a:avLst/>
          </a:prstGeom>
          <a:noFill/>
        </p:spPr>
        <p:txBody>
          <a:bodyPr wrap="none" tIns="0" bIns="0" lIns="0" rIns="0">
            <a:spAutoFit/>
          </a:bodyPr>
          <a:lstStyle/>
          <a:p>
            <a:r>
              <a:rPr sz="850" b="0" i="0">
                <a:solidFill>
                  <a:srgbClr val="94A3B8"/>
                </a:solidFill>
                <a:latin typeface="Calibri"/>
              </a:rPr>
              <a:t>Sistem Manajemen Aset, Pemeliharaan IT &amp; Sarpras  •  PT. BPR Mitratama Arthabuana  •  Sharing Session 2026</a:t>
            </a:r>
          </a:p>
        </p:txBody>
      </p:sp>
      <p:sp>
        <p:nvSpPr>
          <p:cNvPr id="7" name="Rounded Rectangle 6"/>
          <p:cNvSpPr/>
          <p:nvPr/>
        </p:nvSpPr>
        <p:spPr>
          <a:xfrm>
            <a:off x="731520" y="1325880"/>
            <a:ext cx="5257800" cy="2194560"/>
          </a:xfrm>
          <a:prstGeom prst="roundRect">
            <a:avLst/>
          </a:prstGeom>
          <a:solidFill>
            <a:srgbClr val="FEF2F2"/>
          </a:solidFill>
          <a:ln w="1270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08760"/>
            <a:ext cx="4800600" cy="1828800"/>
          </a:xfrm>
          <a:prstGeom prst="rect">
            <a:avLst/>
          </a:prstGeom>
          <a:noFill/>
        </p:spPr>
        <p:txBody>
          <a:bodyPr wrap="square">
            <a:spAutoFit/>
          </a:bodyPr>
          <a:lstStyle/>
          <a:p>
            <a:pPr>
              <a:spcAft>
                <a:spcPts val="800"/>
              </a:spcAft>
            </a:pPr>
            <a:r>
              <a:rPr sz="1400" b="1" i="0">
                <a:solidFill>
                  <a:srgbClr val="1E293B"/>
                </a:solidFill>
                <a:latin typeface="Calibri"/>
              </a:rPr>
              <a:t>1. Pencatatan Kertas Rentan Hilang</a:t>
            </a:r>
          </a:p>
          <a:p>
            <a:r>
              <a:rPr sz="1100" b="0" i="0">
                <a:solidFill>
                  <a:srgbClr val="1E293B"/>
                </a:solidFill>
                <a:latin typeface="Calibri"/>
              </a:rPr>
              <a:t>Formulir checklist bulanan dicetak manual di atas kertas. Kerap terselip, rusak, atau basah. Tidak ada riwayat perbaikan yang terintegrasi saat PC kantor cabang bermasalah.</a:t>
            </a:r>
          </a:p>
        </p:txBody>
      </p:sp>
      <p:sp>
        <p:nvSpPr>
          <p:cNvPr id="9" name="Rounded Rectangle 8"/>
          <p:cNvSpPr/>
          <p:nvPr/>
        </p:nvSpPr>
        <p:spPr>
          <a:xfrm>
            <a:off x="6172200" y="1325880"/>
            <a:ext cx="5257800" cy="219456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00600" cy="1828800"/>
          </a:xfrm>
          <a:prstGeom prst="rect">
            <a:avLst/>
          </a:prstGeom>
          <a:noFill/>
        </p:spPr>
        <p:txBody>
          <a:bodyPr wrap="square">
            <a:spAutoFit/>
          </a:bodyPr>
          <a:lstStyle/>
          <a:p>
            <a:pPr>
              <a:spcAft>
                <a:spcPts val="800"/>
              </a:spcAft>
            </a:pPr>
            <a:r>
              <a:rPr sz="1400" b="1" i="0">
                <a:solidFill>
                  <a:srgbClr val="1E293B"/>
                </a:solidFill>
                <a:latin typeface="Calibri"/>
              </a:rPr>
              <a:t>2. Pemisahan Data (Data Silo) IT &amp; SDM</a:t>
            </a:r>
          </a:p>
          <a:p>
            <a:r>
              <a:rPr sz="1100" b="0" i="0">
                <a:solidFill>
                  <a:srgbClr val="1E293B"/>
                </a:solidFill>
                <a:latin typeface="Calibri"/>
              </a:rPr>
              <a:t>Divisi SDM mencatat buku 531+ aset fisik, sedangkan Divisi IT punya data PC sendiri. Mutasi meja atau tukar unit antar-staf sering tidak sinkron dan menimbulkan selisih inventaris.</a:t>
            </a:r>
          </a:p>
        </p:txBody>
      </p:sp>
      <p:sp>
        <p:nvSpPr>
          <p:cNvPr id="11" name="Rounded Rectangle 10"/>
          <p:cNvSpPr/>
          <p:nvPr/>
        </p:nvSpPr>
        <p:spPr>
          <a:xfrm>
            <a:off x="731520" y="3749039"/>
            <a:ext cx="5257800" cy="2194560"/>
          </a:xfrm>
          <a:prstGeom prst="roundRect">
            <a:avLst/>
          </a:prstGeom>
          <a:solidFill>
            <a:srgbClr val="FEF2F2"/>
          </a:solidFill>
          <a:ln w="1270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931919"/>
            <a:ext cx="4800600" cy="1828800"/>
          </a:xfrm>
          <a:prstGeom prst="rect">
            <a:avLst/>
          </a:prstGeom>
          <a:noFill/>
        </p:spPr>
        <p:txBody>
          <a:bodyPr wrap="square">
            <a:spAutoFit/>
          </a:bodyPr>
          <a:lstStyle/>
          <a:p>
            <a:pPr>
              <a:spcAft>
                <a:spcPts val="800"/>
              </a:spcAft>
            </a:pPr>
            <a:r>
              <a:rPr sz="1400" b="1" i="0">
                <a:solidFill>
                  <a:srgbClr val="1E293B"/>
                </a:solidFill>
                <a:latin typeface="Calibri"/>
              </a:rPr>
              <a:t>3. Risiko Komputer Teller Mati Mendadak</a:t>
            </a:r>
          </a:p>
          <a:p>
            <a:r>
              <a:rPr sz="1100" b="0" i="0">
                <a:solidFill>
                  <a:srgbClr val="1E293B"/>
                </a:solidFill>
                <a:latin typeface="Calibri"/>
              </a:rPr>
              <a:t>Tanpa pemeliharaan preventif yang terpantau, PC teller sering tiba-tiba macet di tengah jam transaksi nasabah, menciptakan antrean panjang dan mengganggu reputasi bank.</a:t>
            </a:r>
          </a:p>
        </p:txBody>
      </p:sp>
      <p:sp>
        <p:nvSpPr>
          <p:cNvPr id="13" name="Rounded Rectangle 12"/>
          <p:cNvSpPr/>
          <p:nvPr/>
        </p:nvSpPr>
        <p:spPr>
          <a:xfrm>
            <a:off x="6172200" y="3749039"/>
            <a:ext cx="5257800" cy="2194560"/>
          </a:xfrm>
          <a:prstGeom prst="roundRect">
            <a:avLst/>
          </a:prstGeom>
          <a:solidFill>
            <a:srgbClr val="EBF3FF"/>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931919"/>
            <a:ext cx="4800600" cy="1828800"/>
          </a:xfrm>
          <a:prstGeom prst="rect">
            <a:avLst/>
          </a:prstGeom>
          <a:noFill/>
        </p:spPr>
        <p:txBody>
          <a:bodyPr wrap="square">
            <a:spAutoFit/>
          </a:bodyPr>
          <a:lstStyle/>
          <a:p>
            <a:pPr>
              <a:spcAft>
                <a:spcPts val="800"/>
              </a:spcAft>
            </a:pPr>
            <a:r>
              <a:rPr sz="1400" b="1" i="0">
                <a:solidFill>
                  <a:srgbClr val="1E293B"/>
                </a:solidFill>
                <a:latin typeface="Calibri"/>
              </a:rPr>
              <a:t>4. Tuntutan Kepatuhan Audit Kapan Saja</a:t>
            </a:r>
          </a:p>
          <a:p>
            <a:r>
              <a:rPr sz="1100" b="0" i="0">
                <a:solidFill>
                  <a:srgbClr val="1E293B"/>
                </a:solidFill>
                <a:latin typeface="Calibri"/>
              </a:rPr>
              <a:t>Standar operasional perbankan menuntut bukti otentik pemeliharaan berkala, log kunjungan ruang server fisik, dan jejak audit permanen yang tidak dapat dimanipulasi.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942"/>
          </a:solidFill>
          <a:ln>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D6EFD"/>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tIns="0" bIns="0" lIns="0" rIns="0">
            <a:spAutoFit/>
          </a:bodyPr>
          <a:lstStyle/>
          <a:p>
            <a:pPr>
              <a:spcAft>
                <a:spcPts val="200"/>
              </a:spcAft>
            </a:pPr>
            <a:r>
              <a:rPr sz="950" b="1" i="0">
                <a:solidFill>
                  <a:srgbClr val="93C5FD"/>
                </a:solidFill>
                <a:latin typeface="Calibri"/>
              </a:rPr>
              <a:t>2. ARSITEKTUR PERAN</a:t>
            </a:r>
          </a:p>
          <a:p>
            <a:r>
              <a:rPr sz="2000" b="1" i="0">
                <a:solidFill>
                  <a:srgbClr val="FFFFFF"/>
                </a:solidFill>
                <a:latin typeface="Calibri"/>
              </a:rPr>
              <a:t>Bukan Sekadar Aplikasi IT: Platform Kolaborasi 4 Pilar Divisi</a:t>
            </a:r>
          </a:p>
        </p:txBody>
      </p:sp>
      <p:sp>
        <p:nvSpPr>
          <p:cNvPr id="5" name="TextBox 4"/>
          <p:cNvSpPr txBox="1"/>
          <p:nvPr/>
        </p:nvSpPr>
        <p:spPr>
          <a:xfrm>
            <a:off x="9601200" y="182880"/>
            <a:ext cx="1828800" cy="685800"/>
          </a:xfrm>
          <a:prstGeom prst="rect">
            <a:avLst/>
          </a:prstGeom>
          <a:noFill/>
        </p:spPr>
        <p:txBody>
          <a:bodyPr wrap="square">
            <a:spAutoFit/>
          </a:bodyPr>
          <a:lstStyle/>
          <a:p>
            <a:pPr algn="r"/>
            <a:r>
              <a:rPr sz="1000" b="1" i="0">
                <a:solidFill>
                  <a:srgbClr val="CBD5E1"/>
                </a:solidFill>
                <a:latin typeface="Calibri"/>
              </a:rPr>
              <a:t>BANK MITRA  |  03/12</a:t>
            </a:r>
          </a:p>
        </p:txBody>
      </p:sp>
      <p:sp>
        <p:nvSpPr>
          <p:cNvPr id="6" name="TextBox 5"/>
          <p:cNvSpPr txBox="1"/>
          <p:nvPr/>
        </p:nvSpPr>
        <p:spPr>
          <a:xfrm>
            <a:off x="731520" y="6537960"/>
            <a:ext cx="10728655" cy="274320"/>
          </a:xfrm>
          <a:prstGeom prst="rect">
            <a:avLst/>
          </a:prstGeom>
          <a:noFill/>
        </p:spPr>
        <p:txBody>
          <a:bodyPr wrap="none" tIns="0" bIns="0" lIns="0" rIns="0">
            <a:spAutoFit/>
          </a:bodyPr>
          <a:lstStyle/>
          <a:p>
            <a:r>
              <a:rPr sz="850" b="0" i="0">
                <a:solidFill>
                  <a:srgbClr val="94A3B8"/>
                </a:solidFill>
                <a:latin typeface="Calibri"/>
              </a:rPr>
              <a:t>Sistem Manajemen Aset, Pemeliharaan IT &amp; Sarpras  •  PT. BPR Mitratama Arthabuana  •  Sharing Session 2026</a:t>
            </a:r>
          </a:p>
        </p:txBody>
      </p:sp>
      <p:sp>
        <p:nvSpPr>
          <p:cNvPr id="7" name="Rounded Rectangle 6"/>
          <p:cNvSpPr/>
          <p:nvPr/>
        </p:nvSpPr>
        <p:spPr>
          <a:xfrm>
            <a:off x="731520" y="1325880"/>
            <a:ext cx="2578608" cy="4846320"/>
          </a:xfrm>
          <a:prstGeom prst="roundRect">
            <a:avLst/>
          </a:prstGeom>
          <a:solidFill>
            <a:srgbClr val="ECFDF3"/>
          </a:solidFill>
          <a:ln w="12700">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08760"/>
            <a:ext cx="2249424" cy="4480560"/>
          </a:xfrm>
          <a:prstGeom prst="rect">
            <a:avLst/>
          </a:prstGeom>
          <a:noFill/>
        </p:spPr>
        <p:txBody>
          <a:bodyPr wrap="square">
            <a:spAutoFit/>
          </a:bodyPr>
          <a:lstStyle/>
          <a:p>
            <a:pPr>
              <a:spcAft>
                <a:spcPts val="1200"/>
              </a:spcAft>
            </a:pPr>
            <a:r>
              <a:rPr sz="1300" b="1" i="0">
                <a:solidFill>
                  <a:srgbClr val="1E293B"/>
                </a:solidFill>
                <a:latin typeface="Calibri"/>
              </a:rPr>
              <a:t>Divisi SDM &amp; Umum (Sarpras)</a:t>
            </a:r>
          </a:p>
          <a:p>
            <a:pPr>
              <a:spcAft>
                <a:spcPts val="600"/>
              </a:spcAft>
            </a:pPr>
            <a:r>
              <a:rPr sz="1000" b="0" i="0">
                <a:solidFill>
                  <a:srgbClr val="1E293B"/>
                </a:solidFill>
                <a:latin typeface="Calibri"/>
              </a:rPr>
              <a:t>• Pemilik fisik 531+ aset sarana kantor</a:t>
            </a:r>
          </a:p>
          <a:p>
            <a:pPr>
              <a:spcAft>
                <a:spcPts val="600"/>
              </a:spcAft>
            </a:pPr>
            <a:r>
              <a:rPr sz="1000" b="0" i="0">
                <a:solidFill>
                  <a:srgbClr val="1E293B"/>
                </a:solidFill>
                <a:latin typeface="Calibri"/>
              </a:rPr>
              <a:t>• Penerbitan Kartu Inventaris Ruangan (KIR)</a:t>
            </a:r>
          </a:p>
          <a:p>
            <a:pPr>
              <a:spcAft>
                <a:spcPts val="600"/>
              </a:spcAft>
            </a:pPr>
            <a:r>
              <a:rPr sz="1000" b="0" i="0">
                <a:solidFill>
                  <a:srgbClr val="1E293B"/>
                </a:solidFill>
                <a:latin typeface="Calibri"/>
              </a:rPr>
              <a:t>• Pencatatan BAST serah terima karyawan</a:t>
            </a:r>
          </a:p>
          <a:p>
            <a:pPr>
              <a:spcAft>
                <a:spcPts val="600"/>
              </a:spcAft>
            </a:pPr>
            <a:r>
              <a:rPr sz="1000" b="0" i="0">
                <a:solidFill>
                  <a:srgbClr val="1E293B"/>
                </a:solidFill>
                <a:latin typeface="Calibri"/>
              </a:rPr>
              <a:t>• Persetujuan Memo Pengadaan &amp; Afkir</a:t>
            </a:r>
          </a:p>
        </p:txBody>
      </p:sp>
      <p:sp>
        <p:nvSpPr>
          <p:cNvPr id="9" name="Rounded Rectangle 8"/>
          <p:cNvSpPr/>
          <p:nvPr/>
        </p:nvSpPr>
        <p:spPr>
          <a:xfrm>
            <a:off x="3456432" y="1325880"/>
            <a:ext cx="2578608" cy="4846320"/>
          </a:xfrm>
          <a:prstGeom prst="roundRect">
            <a:avLst/>
          </a:prstGeom>
          <a:solidFill>
            <a:srgbClr val="EBF3FF"/>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024" y="1508760"/>
            <a:ext cx="2249424" cy="4480560"/>
          </a:xfrm>
          <a:prstGeom prst="rect">
            <a:avLst/>
          </a:prstGeom>
          <a:noFill/>
        </p:spPr>
        <p:txBody>
          <a:bodyPr wrap="square">
            <a:spAutoFit/>
          </a:bodyPr>
          <a:lstStyle/>
          <a:p>
            <a:pPr>
              <a:spcAft>
                <a:spcPts val="1200"/>
              </a:spcAft>
            </a:pPr>
            <a:r>
              <a:rPr sz="1300" b="1" i="0">
                <a:solidFill>
                  <a:srgbClr val="1E293B"/>
                </a:solidFill>
                <a:latin typeface="Calibri"/>
              </a:rPr>
              <a:t>Divisi IT &amp; Teknisi Lapangan</a:t>
            </a:r>
          </a:p>
          <a:p>
            <a:pPr>
              <a:spcAft>
                <a:spcPts val="600"/>
              </a:spcAft>
            </a:pPr>
            <a:r>
              <a:rPr sz="1000" b="0" i="0">
                <a:solidFill>
                  <a:srgbClr val="1E293B"/>
                </a:solidFill>
                <a:latin typeface="Calibri"/>
              </a:rPr>
              <a:t>• Pengelola kelaikan 81 komputer &amp; server</a:t>
            </a:r>
          </a:p>
          <a:p>
            <a:pPr>
              <a:spcAft>
                <a:spcPts val="600"/>
              </a:spcAft>
            </a:pPr>
            <a:r>
              <a:rPr sz="1000" b="0" i="0">
                <a:solidFill>
                  <a:srgbClr val="1E293B"/>
                </a:solidFill>
                <a:latin typeface="Calibri"/>
              </a:rPr>
              <a:t>• Pelaksanaan 9 butir inspeksi preventif</a:t>
            </a:r>
          </a:p>
          <a:p>
            <a:pPr>
              <a:spcAft>
                <a:spcPts val="600"/>
              </a:spcAft>
            </a:pPr>
            <a:r>
              <a:rPr sz="1000" b="0" i="0">
                <a:solidFill>
                  <a:srgbClr val="1E293B"/>
                </a:solidFill>
                <a:latin typeface="Calibri"/>
              </a:rPr>
              <a:t>• Penanganan tiket kendala operasional</a:t>
            </a:r>
          </a:p>
          <a:p>
            <a:pPr>
              <a:spcAft>
                <a:spcPts val="600"/>
              </a:spcAft>
            </a:pPr>
            <a:r>
              <a:rPr sz="1000" b="0" i="0">
                <a:solidFill>
                  <a:srgbClr val="1E293B"/>
                </a:solidFill>
                <a:latin typeface="Calibri"/>
              </a:rPr>
              <a:t>• Pengawasan buku tamu ruang server</a:t>
            </a:r>
          </a:p>
        </p:txBody>
      </p:sp>
      <p:sp>
        <p:nvSpPr>
          <p:cNvPr id="11" name="Rounded Rectangle 10"/>
          <p:cNvSpPr/>
          <p:nvPr/>
        </p:nvSpPr>
        <p:spPr>
          <a:xfrm>
            <a:off x="6181344" y="1325880"/>
            <a:ext cx="2578608" cy="484632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5936" y="1508760"/>
            <a:ext cx="2249424" cy="4480560"/>
          </a:xfrm>
          <a:prstGeom prst="rect">
            <a:avLst/>
          </a:prstGeom>
          <a:noFill/>
        </p:spPr>
        <p:txBody>
          <a:bodyPr wrap="square">
            <a:spAutoFit/>
          </a:bodyPr>
          <a:lstStyle/>
          <a:p>
            <a:pPr>
              <a:spcAft>
                <a:spcPts val="1200"/>
              </a:spcAft>
            </a:pPr>
            <a:r>
              <a:rPr sz="1300" b="1" i="0">
                <a:solidFill>
                  <a:srgbClr val="1E293B"/>
                </a:solidFill>
                <a:latin typeface="Calibri"/>
              </a:rPr>
              <a:t>Pimpinan Cabang &amp; Karyawan</a:t>
            </a:r>
          </a:p>
          <a:p>
            <a:pPr>
              <a:spcAft>
                <a:spcPts val="600"/>
              </a:spcAft>
            </a:pPr>
            <a:r>
              <a:rPr sz="1000" b="0" i="0">
                <a:solidFill>
                  <a:srgbClr val="1E293B"/>
                </a:solidFill>
                <a:latin typeface="Calibri"/>
              </a:rPr>
              <a:t>• Pemantauan denah visual meja kerja cabang</a:t>
            </a:r>
          </a:p>
          <a:p>
            <a:pPr>
              <a:spcAft>
                <a:spcPts val="600"/>
              </a:spcAft>
            </a:pPr>
            <a:r>
              <a:rPr sz="1000" b="0" i="0">
                <a:solidFill>
                  <a:srgbClr val="1E293B"/>
                </a:solidFill>
                <a:latin typeface="Calibri"/>
              </a:rPr>
              <a:t>• Mengetahui status kesehatan PC teller/CS</a:t>
            </a:r>
          </a:p>
          <a:p>
            <a:pPr>
              <a:spcAft>
                <a:spcPts val="600"/>
              </a:spcAft>
            </a:pPr>
            <a:r>
              <a:rPr sz="1000" b="0" i="0">
                <a:solidFill>
                  <a:srgbClr val="1E293B"/>
                </a:solidFill>
                <a:latin typeface="Calibri"/>
              </a:rPr>
              <a:t>• Persetujuan pengadaan barang lokal</a:t>
            </a:r>
          </a:p>
          <a:p>
            <a:pPr>
              <a:spcAft>
                <a:spcPts val="600"/>
              </a:spcAft>
            </a:pPr>
            <a:r>
              <a:rPr sz="1000" b="0" i="0">
                <a:solidFill>
                  <a:srgbClr val="1E293B"/>
                </a:solidFill>
                <a:latin typeface="Calibri"/>
              </a:rPr>
              <a:t>• Lapor kendala cepat lewat scan QR meja</a:t>
            </a:r>
          </a:p>
        </p:txBody>
      </p:sp>
      <p:sp>
        <p:nvSpPr>
          <p:cNvPr id="13" name="Rounded Rectangle 12"/>
          <p:cNvSpPr/>
          <p:nvPr/>
        </p:nvSpPr>
        <p:spPr>
          <a:xfrm>
            <a:off x="8906256" y="1325880"/>
            <a:ext cx="2578608" cy="4846320"/>
          </a:xfrm>
          <a:prstGeom prst="roundRect">
            <a:avLst/>
          </a:prstGeom>
          <a:solidFill>
            <a:srgbClr val="1A3D5E"/>
          </a:solidFill>
          <a:ln w="12700">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0848" y="1508760"/>
            <a:ext cx="2249424" cy="4480560"/>
          </a:xfrm>
          <a:prstGeom prst="rect">
            <a:avLst/>
          </a:prstGeom>
          <a:noFill/>
        </p:spPr>
        <p:txBody>
          <a:bodyPr wrap="square">
            <a:spAutoFit/>
          </a:bodyPr>
          <a:lstStyle/>
          <a:p>
            <a:pPr>
              <a:spcAft>
                <a:spcPts val="1200"/>
              </a:spcAft>
            </a:pPr>
            <a:r>
              <a:rPr sz="1300" b="1" i="0">
                <a:solidFill>
                  <a:srgbClr val="FFFFFF"/>
                </a:solidFill>
                <a:latin typeface="Calibri"/>
              </a:rPr>
              <a:t>Satuan Kerja Audit Intern (SKAI)</a:t>
            </a:r>
          </a:p>
          <a:p>
            <a:pPr>
              <a:spcAft>
                <a:spcPts val="600"/>
              </a:spcAft>
            </a:pPr>
            <a:r>
              <a:rPr sz="1000" b="0" i="0">
                <a:solidFill>
                  <a:srgbClr val="E2E8F0"/>
                </a:solidFill>
                <a:latin typeface="Calibri"/>
              </a:rPr>
              <a:t>• Pengawasan kepatuhan independen</a:t>
            </a:r>
          </a:p>
          <a:p>
            <a:pPr>
              <a:spcAft>
                <a:spcPts val="600"/>
              </a:spcAft>
            </a:pPr>
            <a:r>
              <a:rPr sz="1000" b="0" i="0">
                <a:solidFill>
                  <a:srgbClr val="E2E8F0"/>
                </a:solidFill>
                <a:latin typeface="Calibri"/>
              </a:rPr>
              <a:t>• Akses jejak audit (Audit Trail) tanpa edit</a:t>
            </a:r>
          </a:p>
          <a:p>
            <a:pPr>
              <a:spcAft>
                <a:spcPts val="600"/>
              </a:spcAft>
            </a:pPr>
            <a:r>
              <a:rPr sz="1000" b="0" i="0">
                <a:solidFill>
                  <a:srgbClr val="E2E8F0"/>
                </a:solidFill>
                <a:latin typeface="Calibri"/>
              </a:rPr>
              <a:t>• Verifikasi kesesuaian SOP perbankan</a:t>
            </a:r>
          </a:p>
          <a:p>
            <a:pPr>
              <a:spcAft>
                <a:spcPts val="600"/>
              </a:spcAft>
            </a:pPr>
            <a:r>
              <a:rPr sz="1000" b="0" i="0">
                <a:solidFill>
                  <a:srgbClr val="E2E8F0"/>
                </a:solidFill>
                <a:latin typeface="Calibri"/>
              </a:rPr>
              <a:t>• Ekspor data bukti kesiapan audit kapan saja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942"/>
          </a:solidFill>
          <a:ln>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D6EFD"/>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tIns="0" bIns="0" lIns="0" rIns="0">
            <a:spAutoFit/>
          </a:bodyPr>
          <a:lstStyle/>
          <a:p>
            <a:pPr>
              <a:spcAft>
                <a:spcPts val="200"/>
              </a:spcAft>
            </a:pPr>
            <a:r>
              <a:rPr sz="950" b="1" i="0">
                <a:solidFill>
                  <a:srgbClr val="93C5FD"/>
                </a:solidFill>
                <a:latin typeface="Calibri"/>
              </a:rPr>
              <a:t>3. FITUR UNGGULAN</a:t>
            </a:r>
          </a:p>
          <a:p>
            <a:r>
              <a:rPr sz="2000" b="1" i="0">
                <a:solidFill>
                  <a:srgbClr val="FFFFFF"/>
                </a:solidFill>
                <a:latin typeface="Calibri"/>
              </a:rPr>
              <a:t>Fitur 1: Pemeliharaan Cepat Berbasis Stiker QR &amp; PWA</a:t>
            </a:r>
          </a:p>
        </p:txBody>
      </p:sp>
      <p:sp>
        <p:nvSpPr>
          <p:cNvPr id="5" name="TextBox 4"/>
          <p:cNvSpPr txBox="1"/>
          <p:nvPr/>
        </p:nvSpPr>
        <p:spPr>
          <a:xfrm>
            <a:off x="9601200" y="182880"/>
            <a:ext cx="1828800" cy="685800"/>
          </a:xfrm>
          <a:prstGeom prst="rect">
            <a:avLst/>
          </a:prstGeom>
          <a:noFill/>
        </p:spPr>
        <p:txBody>
          <a:bodyPr wrap="square">
            <a:spAutoFit/>
          </a:bodyPr>
          <a:lstStyle/>
          <a:p>
            <a:pPr algn="r"/>
            <a:r>
              <a:rPr sz="1000" b="1" i="0">
                <a:solidFill>
                  <a:srgbClr val="CBD5E1"/>
                </a:solidFill>
                <a:latin typeface="Calibri"/>
              </a:rPr>
              <a:t>BANK MITRA  |  04/12</a:t>
            </a:r>
          </a:p>
        </p:txBody>
      </p:sp>
      <p:sp>
        <p:nvSpPr>
          <p:cNvPr id="6" name="TextBox 5"/>
          <p:cNvSpPr txBox="1"/>
          <p:nvPr/>
        </p:nvSpPr>
        <p:spPr>
          <a:xfrm>
            <a:off x="731520" y="6537960"/>
            <a:ext cx="10728655" cy="274320"/>
          </a:xfrm>
          <a:prstGeom prst="rect">
            <a:avLst/>
          </a:prstGeom>
          <a:noFill/>
        </p:spPr>
        <p:txBody>
          <a:bodyPr wrap="none" tIns="0" bIns="0" lIns="0" rIns="0">
            <a:spAutoFit/>
          </a:bodyPr>
          <a:lstStyle/>
          <a:p>
            <a:r>
              <a:rPr sz="850" b="0" i="0">
                <a:solidFill>
                  <a:srgbClr val="94A3B8"/>
                </a:solidFill>
                <a:latin typeface="Calibri"/>
              </a:rPr>
              <a:t>Sistem Manajemen Aset, Pemeliharaan IT &amp; Sarpras  •  PT. BPR Mitratama Arthabuana  •  Sharing Session 2026</a:t>
            </a:r>
          </a:p>
        </p:txBody>
      </p:sp>
      <p:sp>
        <p:nvSpPr>
          <p:cNvPr id="7" name="Rounded Rectangle 6"/>
          <p:cNvSpPr/>
          <p:nvPr/>
        </p:nvSpPr>
        <p:spPr>
          <a:xfrm>
            <a:off x="731520" y="1325880"/>
            <a:ext cx="52578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08760"/>
            <a:ext cx="4800600" cy="4480560"/>
          </a:xfrm>
          <a:prstGeom prst="rect">
            <a:avLst/>
          </a:prstGeom>
          <a:noFill/>
        </p:spPr>
        <p:txBody>
          <a:bodyPr wrap="square">
            <a:spAutoFit/>
          </a:bodyPr>
          <a:lstStyle/>
          <a:p>
            <a:pPr>
              <a:spcAft>
                <a:spcPts val="1000"/>
              </a:spcAft>
            </a:pPr>
            <a:r>
              <a:rPr sz="1500" b="1" i="0">
                <a:solidFill>
                  <a:srgbClr val="0F2942"/>
                </a:solidFill>
                <a:latin typeface="Calibri"/>
              </a:rPr>
              <a:t>Alur Kerja Teknisi di Meja Kerja:</a:t>
            </a:r>
          </a:p>
          <a:p>
            <a:pPr>
              <a:spcAft>
                <a:spcPts val="200"/>
              </a:spcAft>
            </a:pPr>
            <a:r>
              <a:rPr sz="1150" b="1" i="0">
                <a:solidFill>
                  <a:srgbClr val="0D6EFD"/>
                </a:solidFill>
                <a:latin typeface="Calibri"/>
              </a:rPr>
              <a:t>1. Datang ke Meja &amp; Buka Kamera HP</a:t>
            </a:r>
          </a:p>
          <a:p>
            <a:pPr>
              <a:spcAft>
                <a:spcPts val="800"/>
              </a:spcAft>
            </a:pPr>
            <a:r>
              <a:rPr sz="1000" b="0" i="0">
                <a:solidFill>
                  <a:srgbClr val="1E293B"/>
                </a:solidFill>
                <a:latin typeface="Calibri"/>
              </a:rPr>
              <a:t>Teknisi membuka browser di smartphone tanpa perlu unduh aplikasi berat dari Play Store (teknologi Progressive Web App).</a:t>
            </a:r>
          </a:p>
          <a:p>
            <a:pPr>
              <a:spcAft>
                <a:spcPts val="200"/>
              </a:spcAft>
            </a:pPr>
            <a:r>
              <a:rPr sz="1150" b="1" i="0">
                <a:solidFill>
                  <a:srgbClr val="0D6EFD"/>
                </a:solidFill>
                <a:latin typeface="Calibri"/>
              </a:rPr>
              <a:t>2. Pindai Stiker QR di Casing PC</a:t>
            </a:r>
          </a:p>
          <a:p>
            <a:pPr>
              <a:spcAft>
                <a:spcPts val="800"/>
              </a:spcAft>
            </a:pPr>
            <a:r>
              <a:rPr sz="1000" b="0" i="0">
                <a:solidFill>
                  <a:srgbClr val="1E293B"/>
                </a:solidFill>
                <a:latin typeface="Calibri"/>
              </a:rPr>
              <a:t>Setiap komputer memiliki kode QR acak berkeamanan tinggi yang langsung membuka lembar servis unit tersebut.</a:t>
            </a:r>
          </a:p>
          <a:p>
            <a:pPr>
              <a:spcAft>
                <a:spcPts val="200"/>
              </a:spcAft>
            </a:pPr>
            <a:r>
              <a:rPr sz="1150" b="1" i="0">
                <a:solidFill>
                  <a:srgbClr val="0D6EFD"/>
                </a:solidFill>
                <a:latin typeface="Calibri"/>
              </a:rPr>
              <a:t>3. Verifikasi 9 Butir Checklist Baku</a:t>
            </a:r>
          </a:p>
          <a:p>
            <a:pPr>
              <a:spcAft>
                <a:spcPts val="800"/>
              </a:spcAft>
            </a:pPr>
            <a:r>
              <a:rPr sz="1000" b="0" i="0">
                <a:solidFill>
                  <a:srgbClr val="1E293B"/>
                </a:solidFill>
                <a:latin typeface="Calibri"/>
              </a:rPr>
              <a:t>Pemeriksaan antivirus, update OS, kebersihan fisik kipas, kerapian kabel, tegangan UPS, dan kesehatan hard disk.</a:t>
            </a:r>
          </a:p>
          <a:p>
            <a:pPr>
              <a:spcAft>
                <a:spcPts val="200"/>
              </a:spcAft>
            </a:pPr>
            <a:r>
              <a:rPr sz="1150" b="1" i="0">
                <a:solidFill>
                  <a:srgbClr val="0D6EFD"/>
                </a:solidFill>
                <a:latin typeface="Calibri"/>
              </a:rPr>
              <a:t>4. Unggah Foto Bukti &amp; Simpan</a:t>
            </a:r>
          </a:p>
          <a:p>
            <a:pPr>
              <a:spcAft>
                <a:spcPts val="800"/>
              </a:spcAft>
            </a:pPr>
            <a:r>
              <a:rPr sz="1000" b="0" i="0">
                <a:solidFill>
                  <a:srgbClr val="1E293B"/>
                </a:solidFill>
                <a:latin typeface="Calibri"/>
              </a:rPr>
              <a:t>Mengambil foto kondisi PC secara live. Seketika status meja di sistem berubah menjadi 'Terpelihara Bulan Ini'.</a:t>
            </a:r>
          </a:p>
        </p:txBody>
      </p:sp>
      <p:sp>
        <p:nvSpPr>
          <p:cNvPr id="9" name="Rounded Rectangle 8"/>
          <p:cNvSpPr/>
          <p:nvPr/>
        </p:nvSpPr>
        <p:spPr>
          <a:xfrm>
            <a:off x="6172200" y="1325880"/>
            <a:ext cx="5285232" cy="4846320"/>
          </a:xfrm>
          <a:prstGeom prst="roundRect">
            <a:avLst/>
          </a:prstGeom>
          <a:solidFill>
            <a:srgbClr val="EBF3FF"/>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28032" cy="4480560"/>
          </a:xfrm>
          <a:prstGeom prst="rect">
            <a:avLst/>
          </a:prstGeom>
          <a:noFill/>
        </p:spPr>
        <p:txBody>
          <a:bodyPr wrap="square">
            <a:spAutoFit/>
          </a:bodyPr>
          <a:lstStyle/>
          <a:p>
            <a:pPr>
              <a:spcAft>
                <a:spcPts val="1000"/>
              </a:spcAft>
            </a:pPr>
            <a:r>
              <a:rPr sz="1500" b="1" i="0">
                <a:solidFill>
                  <a:srgbClr val="0F2942"/>
                </a:solidFill>
                <a:latin typeface="Calibri"/>
              </a:rPr>
              <a:t>9 Butir Standar Baku Pemeliharaan Bulanan:</a:t>
            </a:r>
          </a:p>
          <a:p>
            <a:pPr>
              <a:spcAft>
                <a:spcPts val="400"/>
              </a:spcAft>
            </a:pPr>
            <a:r>
              <a:rPr sz="1000" b="1" i="0">
                <a:solidFill>
                  <a:srgbClr val="1E293B"/>
                </a:solidFill>
                <a:latin typeface="Calibri"/>
              </a:rPr>
              <a:t>✓ 1. Antivirus: Definisi virus ter-update hari ini &amp; proteksi aktif.</a:t>
            </a:r>
          </a:p>
          <a:p>
            <a:pPr>
              <a:spcAft>
                <a:spcPts val="400"/>
              </a:spcAft>
            </a:pPr>
            <a:r>
              <a:rPr sz="1000" b="1" i="0">
                <a:solidFill>
                  <a:srgbClr val="1E293B"/>
                </a:solidFill>
                <a:latin typeface="Calibri"/>
              </a:rPr>
              <a:t>✓ 2. Windows Update: Patch keamanan OS terpasang rapi.</a:t>
            </a:r>
          </a:p>
          <a:p>
            <a:pPr>
              <a:spcAft>
                <a:spcPts val="400"/>
              </a:spcAft>
            </a:pPr>
            <a:r>
              <a:rPr sz="1000" b="1" i="0">
                <a:solidFill>
                  <a:srgbClr val="1E293B"/>
                </a:solidFill>
                <a:latin typeface="Calibri"/>
              </a:rPr>
              <a:t>✓ 3. Kebersihan Fisik: Casing, kipas PSU, dan ventilasi bebas debu tebal.</a:t>
            </a:r>
          </a:p>
          <a:p>
            <a:pPr>
              <a:spcAft>
                <a:spcPts val="400"/>
              </a:spcAft>
            </a:pPr>
            <a:r>
              <a:rPr sz="1000" b="1" i="0">
                <a:solidFill>
                  <a:srgbClr val="1E293B"/>
                </a:solidFill>
                <a:latin typeface="Calibri"/>
              </a:rPr>
              <a:t>✓ 4. Kerapian Kabel: Jalur kabel LAN &amp; power rapi terikat, tidak terjepit.</a:t>
            </a:r>
          </a:p>
          <a:p>
            <a:pPr>
              <a:spcAft>
                <a:spcPts val="400"/>
              </a:spcAft>
            </a:pPr>
            <a:r>
              <a:rPr sz="1000" b="1" i="0">
                <a:solidFill>
                  <a:srgbClr val="1E293B"/>
                </a:solidFill>
                <a:latin typeface="Calibri"/>
              </a:rPr>
              <a:t>✓ 5. Tegangan Listrik: Uji voltase &amp; grounding stop kontak meja.</a:t>
            </a:r>
          </a:p>
          <a:p>
            <a:pPr>
              <a:spcAft>
                <a:spcPts val="400"/>
              </a:spcAft>
            </a:pPr>
            <a:r>
              <a:rPr sz="1000" b="1" i="0">
                <a:solidFill>
                  <a:srgbClr val="1E293B"/>
                </a:solidFill>
                <a:latin typeface="Calibri"/>
              </a:rPr>
              <a:t>✓ 6. Uji Cadangan Daya UPS: Baterai mampu menopang beban tanpa drop.</a:t>
            </a:r>
          </a:p>
          <a:p>
            <a:pPr>
              <a:spcAft>
                <a:spcPts val="400"/>
              </a:spcAft>
            </a:pPr>
            <a:r>
              <a:rPr sz="1000" b="1" i="0">
                <a:solidFill>
                  <a:srgbClr val="1E293B"/>
                </a:solidFill>
                <a:latin typeface="Calibri"/>
              </a:rPr>
              <a:t>✓ 7. Kesehatan Storage: Pengecekan bad sector S.M.A.R.T HDD/SSD.</a:t>
            </a:r>
          </a:p>
          <a:p>
            <a:pPr>
              <a:spcAft>
                <a:spcPts val="400"/>
              </a:spcAft>
            </a:pPr>
            <a:r>
              <a:rPr sz="1000" b="1" i="0">
                <a:solidFill>
                  <a:srgbClr val="1E293B"/>
                </a:solidFill>
                <a:latin typeface="Calibri"/>
              </a:rPr>
              <a:t>✓ 8. Kebisingan Kipas: Bearing kipas normal, tidak berderik/overheat.</a:t>
            </a:r>
          </a:p>
          <a:p>
            <a:pPr>
              <a:spcAft>
                <a:spcPts val="400"/>
              </a:spcAft>
            </a:pPr>
            <a:r>
              <a:rPr sz="1000" b="1" i="0">
                <a:solidFill>
                  <a:srgbClr val="1E293B"/>
                </a:solidFill>
                <a:latin typeface="Calibri"/>
              </a:rPr>
              <a:t>✓ 9. Backup Data Kerja: File penting nasabah tersimpan di folder aman.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942"/>
          </a:solidFill>
          <a:ln>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D6EFD"/>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tIns="0" bIns="0" lIns="0" rIns="0">
            <a:spAutoFit/>
          </a:bodyPr>
          <a:lstStyle/>
          <a:p>
            <a:pPr>
              <a:spcAft>
                <a:spcPts val="200"/>
              </a:spcAft>
            </a:pPr>
            <a:r>
              <a:rPr sz="950" b="1" i="0">
                <a:solidFill>
                  <a:srgbClr val="93C5FD"/>
                </a:solidFill>
                <a:latin typeface="Calibri"/>
              </a:rPr>
              <a:t>3. FITUR UNGGULAN</a:t>
            </a:r>
          </a:p>
          <a:p>
            <a:r>
              <a:rPr sz="2000" b="1" i="0">
                <a:solidFill>
                  <a:srgbClr val="FFFFFF"/>
                </a:solidFill>
                <a:latin typeface="Calibri"/>
              </a:rPr>
              <a:t>Fitur 2: Denah Meja Interaktif 2D (Visual Floor Plan)</a:t>
            </a:r>
          </a:p>
        </p:txBody>
      </p:sp>
      <p:sp>
        <p:nvSpPr>
          <p:cNvPr id="5" name="TextBox 4"/>
          <p:cNvSpPr txBox="1"/>
          <p:nvPr/>
        </p:nvSpPr>
        <p:spPr>
          <a:xfrm>
            <a:off x="9601200" y="182880"/>
            <a:ext cx="1828800" cy="685800"/>
          </a:xfrm>
          <a:prstGeom prst="rect">
            <a:avLst/>
          </a:prstGeom>
          <a:noFill/>
        </p:spPr>
        <p:txBody>
          <a:bodyPr wrap="square">
            <a:spAutoFit/>
          </a:bodyPr>
          <a:lstStyle/>
          <a:p>
            <a:pPr algn="r"/>
            <a:r>
              <a:rPr sz="1000" b="1" i="0">
                <a:solidFill>
                  <a:srgbClr val="CBD5E1"/>
                </a:solidFill>
                <a:latin typeface="Calibri"/>
              </a:rPr>
              <a:t>BANK MITRA  |  05/12</a:t>
            </a:r>
          </a:p>
        </p:txBody>
      </p:sp>
      <p:sp>
        <p:nvSpPr>
          <p:cNvPr id="6" name="TextBox 5"/>
          <p:cNvSpPr txBox="1"/>
          <p:nvPr/>
        </p:nvSpPr>
        <p:spPr>
          <a:xfrm>
            <a:off x="731520" y="6537960"/>
            <a:ext cx="10728655" cy="274320"/>
          </a:xfrm>
          <a:prstGeom prst="rect">
            <a:avLst/>
          </a:prstGeom>
          <a:noFill/>
        </p:spPr>
        <p:txBody>
          <a:bodyPr wrap="none" tIns="0" bIns="0" lIns="0" rIns="0">
            <a:spAutoFit/>
          </a:bodyPr>
          <a:lstStyle/>
          <a:p>
            <a:r>
              <a:rPr sz="850" b="0" i="0">
                <a:solidFill>
                  <a:srgbClr val="94A3B8"/>
                </a:solidFill>
                <a:latin typeface="Calibri"/>
              </a:rPr>
              <a:t>Sistem Manajemen Aset, Pemeliharaan IT &amp; Sarpras  •  PT. BPR Mitratama Arthabuana  •  Sharing Session 2026</a:t>
            </a:r>
          </a:p>
        </p:txBody>
      </p:sp>
      <p:sp>
        <p:nvSpPr>
          <p:cNvPr id="7" name="Rounded Rectangle 6"/>
          <p:cNvSpPr/>
          <p:nvPr/>
        </p:nvSpPr>
        <p:spPr>
          <a:xfrm>
            <a:off x="731520" y="1325880"/>
            <a:ext cx="5257800" cy="2194560"/>
          </a:xfrm>
          <a:prstGeom prst="roundRect">
            <a:avLst/>
          </a:prstGeom>
          <a:solidFill>
            <a:srgbClr val="EBF3FF"/>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08760"/>
            <a:ext cx="4800600" cy="1828800"/>
          </a:xfrm>
          <a:prstGeom prst="rect">
            <a:avLst/>
          </a:prstGeom>
          <a:noFill/>
        </p:spPr>
        <p:txBody>
          <a:bodyPr wrap="square">
            <a:spAutoFit/>
          </a:bodyPr>
          <a:lstStyle/>
          <a:p>
            <a:pPr>
              <a:spcAft>
                <a:spcPts val="800"/>
              </a:spcAft>
            </a:pPr>
            <a:r>
              <a:rPr sz="1400" b="1" i="0">
                <a:solidFill>
                  <a:srgbClr val="0F2942"/>
                </a:solidFill>
                <a:latin typeface="Calibri"/>
              </a:rPr>
              <a:t>Visual Layout Ruangan 2D</a:t>
            </a:r>
          </a:p>
          <a:p>
            <a:r>
              <a:rPr sz="1100" b="0" i="0">
                <a:solidFill>
                  <a:srgbClr val="1E293B"/>
                </a:solidFill>
                <a:latin typeface="Calibri"/>
              </a:rPr>
              <a:t>Menampilkan penataan meja kerja kantor cabang layaknya denah arsitektur profesional. Pimpinan Cabang dapat melihat letak meja Teller 1, CS, Back Office, hingga Ruang Pimpinan secara visual.</a:t>
            </a:r>
          </a:p>
        </p:txBody>
      </p:sp>
      <p:sp>
        <p:nvSpPr>
          <p:cNvPr id="9" name="Rounded Rectangle 8"/>
          <p:cNvSpPr/>
          <p:nvPr/>
        </p:nvSpPr>
        <p:spPr>
          <a:xfrm>
            <a:off x="6172200" y="1325880"/>
            <a:ext cx="5257800" cy="2194560"/>
          </a:xfrm>
          <a:prstGeom prst="roundRect">
            <a:avLst/>
          </a:prstGeom>
          <a:solidFill>
            <a:srgbClr val="ECFDF3"/>
          </a:solidFill>
          <a:ln w="12700">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00600" cy="1828800"/>
          </a:xfrm>
          <a:prstGeom prst="rect">
            <a:avLst/>
          </a:prstGeom>
          <a:noFill/>
        </p:spPr>
        <p:txBody>
          <a:bodyPr wrap="square">
            <a:spAutoFit/>
          </a:bodyPr>
          <a:lstStyle/>
          <a:p>
            <a:pPr>
              <a:spcAft>
                <a:spcPts val="800"/>
              </a:spcAft>
            </a:pPr>
            <a:r>
              <a:rPr sz="1400" b="1" i="0">
                <a:solidFill>
                  <a:srgbClr val="0F2942"/>
                </a:solidFill>
                <a:latin typeface="Calibri"/>
              </a:rPr>
              <a:t>Lampu Indikator Status Berkedip (Pulse Dot)</a:t>
            </a:r>
          </a:p>
          <a:p>
            <a:r>
              <a:rPr sz="1100" b="0" i="0">
                <a:solidFill>
                  <a:srgbClr val="1E293B"/>
                </a:solidFill>
                <a:latin typeface="Calibri"/>
              </a:rPr>
              <a:t>Setiap meja dilengkapi lampu denyut warna: Hijau (Normal &amp; Terpelihara), Kuning (Belum Servis Bulan Ini), Merah (Ada Temuan Rusak Aktif), dan Abu-abu (Meja Kosong).</a:t>
            </a:r>
          </a:p>
        </p:txBody>
      </p:sp>
      <p:sp>
        <p:nvSpPr>
          <p:cNvPr id="11" name="Rounded Rectangle 10"/>
          <p:cNvSpPr/>
          <p:nvPr/>
        </p:nvSpPr>
        <p:spPr>
          <a:xfrm>
            <a:off x="731520" y="3749039"/>
            <a:ext cx="5257800" cy="219456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931919"/>
            <a:ext cx="4800600" cy="1828800"/>
          </a:xfrm>
          <a:prstGeom prst="rect">
            <a:avLst/>
          </a:prstGeom>
          <a:noFill/>
        </p:spPr>
        <p:txBody>
          <a:bodyPr wrap="square">
            <a:spAutoFit/>
          </a:bodyPr>
          <a:lstStyle/>
          <a:p>
            <a:pPr>
              <a:spcAft>
                <a:spcPts val="800"/>
              </a:spcAft>
            </a:pPr>
            <a:r>
              <a:rPr sz="1400" b="1" i="0">
                <a:solidFill>
                  <a:srgbClr val="0F2942"/>
                </a:solidFill>
                <a:latin typeface="Calibri"/>
              </a:rPr>
              <a:t>Kemudahan Geser Meja (Direct Drag-and-Drop)</a:t>
            </a:r>
          </a:p>
          <a:p>
            <a:r>
              <a:rPr sz="1100" b="0" i="0">
                <a:solidFill>
                  <a:srgbClr val="1E293B"/>
                </a:solidFill>
                <a:latin typeface="Calibri"/>
              </a:rPr>
              <a:t>Jika tata letak ruangan cabang direnovasi, admin atau staf cukup menyeret (drag) kotak meja di layar dan posisinya tersimpan otomatis ke database tanpa perlu mengukur ulang koordinat.</a:t>
            </a:r>
          </a:p>
        </p:txBody>
      </p:sp>
      <p:sp>
        <p:nvSpPr>
          <p:cNvPr id="13" name="Rounded Rectangle 12"/>
          <p:cNvSpPr/>
          <p:nvPr/>
        </p:nvSpPr>
        <p:spPr>
          <a:xfrm>
            <a:off x="6172200" y="3749039"/>
            <a:ext cx="52578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931919"/>
            <a:ext cx="4800600" cy="1828800"/>
          </a:xfrm>
          <a:prstGeom prst="rect">
            <a:avLst/>
          </a:prstGeom>
          <a:noFill/>
        </p:spPr>
        <p:txBody>
          <a:bodyPr wrap="square">
            <a:spAutoFit/>
          </a:bodyPr>
          <a:lstStyle/>
          <a:p>
            <a:pPr>
              <a:spcAft>
                <a:spcPts val="800"/>
              </a:spcAft>
            </a:pPr>
            <a:r>
              <a:rPr sz="1400" b="1" i="0">
                <a:solidFill>
                  <a:srgbClr val="0F2942"/>
                </a:solidFill>
                <a:latin typeface="Calibri"/>
              </a:rPr>
              <a:t>Manajemen Zona Ruangan Fleksibel</a:t>
            </a:r>
          </a:p>
          <a:p>
            <a:r>
              <a:rPr sz="1100" b="0" i="0">
                <a:solidFill>
                  <a:srgbClr val="1E293B"/>
                </a:solidFill>
                <a:latin typeface="Calibri"/>
              </a:rPr>
              <a:t>Ruangan dikelompokkan ke dalam zona: Zona Pelayanan (Teller &amp; CS), Zona Operasional Back Office, dan Zona Manajemen, memudahkan filter pelaporan.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942"/>
          </a:solidFill>
          <a:ln>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D6EFD"/>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tIns="0" bIns="0" lIns="0" rIns="0">
            <a:spAutoFit/>
          </a:bodyPr>
          <a:lstStyle/>
          <a:p>
            <a:pPr>
              <a:spcAft>
                <a:spcPts val="200"/>
              </a:spcAft>
            </a:pPr>
            <a:r>
              <a:rPr sz="950" b="1" i="0">
                <a:solidFill>
                  <a:srgbClr val="93C5FD"/>
                </a:solidFill>
                <a:latin typeface="Calibri"/>
              </a:rPr>
              <a:t>3. FITUR UNGGULAN</a:t>
            </a:r>
          </a:p>
          <a:p>
            <a:r>
              <a:rPr sz="2000" b="1" i="0">
                <a:solidFill>
                  <a:srgbClr val="FFFFFF"/>
                </a:solidFill>
                <a:latin typeface="Calibri"/>
              </a:rPr>
              <a:t>Fitur 3: Modul Sarana Prasarana, KIR &amp; BAST Digital (SDM &amp; Umum)</a:t>
            </a:r>
          </a:p>
        </p:txBody>
      </p:sp>
      <p:sp>
        <p:nvSpPr>
          <p:cNvPr id="5" name="TextBox 4"/>
          <p:cNvSpPr txBox="1"/>
          <p:nvPr/>
        </p:nvSpPr>
        <p:spPr>
          <a:xfrm>
            <a:off x="9601200" y="182880"/>
            <a:ext cx="1828800" cy="685800"/>
          </a:xfrm>
          <a:prstGeom prst="rect">
            <a:avLst/>
          </a:prstGeom>
          <a:noFill/>
        </p:spPr>
        <p:txBody>
          <a:bodyPr wrap="square">
            <a:spAutoFit/>
          </a:bodyPr>
          <a:lstStyle/>
          <a:p>
            <a:pPr algn="r"/>
            <a:r>
              <a:rPr sz="1000" b="1" i="0">
                <a:solidFill>
                  <a:srgbClr val="CBD5E1"/>
                </a:solidFill>
                <a:latin typeface="Calibri"/>
              </a:rPr>
              <a:t>BANK MITRA  |  06/12</a:t>
            </a:r>
          </a:p>
        </p:txBody>
      </p:sp>
      <p:sp>
        <p:nvSpPr>
          <p:cNvPr id="6" name="TextBox 5"/>
          <p:cNvSpPr txBox="1"/>
          <p:nvPr/>
        </p:nvSpPr>
        <p:spPr>
          <a:xfrm>
            <a:off x="731520" y="6537960"/>
            <a:ext cx="10728655" cy="274320"/>
          </a:xfrm>
          <a:prstGeom prst="rect">
            <a:avLst/>
          </a:prstGeom>
          <a:noFill/>
        </p:spPr>
        <p:txBody>
          <a:bodyPr wrap="none" tIns="0" bIns="0" lIns="0" rIns="0">
            <a:spAutoFit/>
          </a:bodyPr>
          <a:lstStyle/>
          <a:p>
            <a:r>
              <a:rPr sz="850" b="0" i="0">
                <a:solidFill>
                  <a:srgbClr val="94A3B8"/>
                </a:solidFill>
                <a:latin typeface="Calibri"/>
              </a:rPr>
              <a:t>Sistem Manajemen Aset, Pemeliharaan IT &amp; Sarpras  •  PT. BPR Mitratama Arthabuana  •  Sharing Session 2026</a:t>
            </a:r>
          </a:p>
        </p:txBody>
      </p:sp>
      <p:sp>
        <p:nvSpPr>
          <p:cNvPr id="7" name="Rounded Rectangle 6"/>
          <p:cNvSpPr/>
          <p:nvPr/>
        </p:nvSpPr>
        <p:spPr>
          <a:xfrm>
            <a:off x="731520" y="1325880"/>
            <a:ext cx="5257800" cy="2194560"/>
          </a:xfrm>
          <a:prstGeom prst="roundRect">
            <a:avLst/>
          </a:prstGeom>
          <a:solidFill>
            <a:srgbClr val="EBF3FF"/>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08760"/>
            <a:ext cx="4800600" cy="1828800"/>
          </a:xfrm>
          <a:prstGeom prst="rect">
            <a:avLst/>
          </a:prstGeom>
          <a:noFill/>
        </p:spPr>
        <p:txBody>
          <a:bodyPr wrap="square">
            <a:spAutoFit/>
          </a:bodyPr>
          <a:lstStyle/>
          <a:p>
            <a:pPr>
              <a:spcAft>
                <a:spcPts val="800"/>
              </a:spcAft>
            </a:pPr>
            <a:r>
              <a:rPr sz="1400" b="1" i="0">
                <a:solidFill>
                  <a:srgbClr val="0F2942"/>
                </a:solidFill>
                <a:latin typeface="Calibri"/>
              </a:rPr>
              <a:t>1. Kartu Inventaris Ruangan (KIR)</a:t>
            </a:r>
          </a:p>
          <a:p>
            <a:r>
              <a:rPr sz="1100" b="0" i="0">
                <a:solidFill>
                  <a:srgbClr val="1E293B"/>
                </a:solidFill>
                <a:latin typeface="Calibri"/>
              </a:rPr>
              <a:t>Seluruh 531+ item fasilitas fisik Core Banking (Meja, Kursi, Komputer, AC, Lemari Brankas) tercatat detail per ruangan. Filter cepat per cabang dan ekspor rekap otomatis.</a:t>
            </a:r>
          </a:p>
        </p:txBody>
      </p:sp>
      <p:sp>
        <p:nvSpPr>
          <p:cNvPr id="9" name="Rounded Rectangle 8"/>
          <p:cNvSpPr/>
          <p:nvPr/>
        </p:nvSpPr>
        <p:spPr>
          <a:xfrm>
            <a:off x="6172200" y="1325880"/>
            <a:ext cx="5257800" cy="2194560"/>
          </a:xfrm>
          <a:prstGeom prst="roundRect">
            <a:avLst/>
          </a:prstGeom>
          <a:solidFill>
            <a:srgbClr val="ECFDF3"/>
          </a:solidFill>
          <a:ln w="12700">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00600" cy="1828800"/>
          </a:xfrm>
          <a:prstGeom prst="rect">
            <a:avLst/>
          </a:prstGeom>
          <a:noFill/>
        </p:spPr>
        <p:txBody>
          <a:bodyPr wrap="square">
            <a:spAutoFit/>
          </a:bodyPr>
          <a:lstStyle/>
          <a:p>
            <a:pPr>
              <a:spcAft>
                <a:spcPts val="800"/>
              </a:spcAft>
            </a:pPr>
            <a:r>
              <a:rPr sz="1400" b="1" i="0">
                <a:solidFill>
                  <a:srgbClr val="0F2942"/>
                </a:solidFill>
                <a:latin typeface="Calibri"/>
              </a:rPr>
              <a:t>2. BAST Mutasi Serah Terima Digital</a:t>
            </a:r>
          </a:p>
          <a:p>
            <a:r>
              <a:rPr sz="1100" b="0" i="0">
                <a:solidFill>
                  <a:srgbClr val="1E293B"/>
                </a:solidFill>
                <a:latin typeface="Calibri"/>
              </a:rPr>
              <a:t>Saat ada pergantian karyawan atau rotasi staf antar-meja, sistem otomatis menerbitkan dokumen Berita Acara Serah Terima (BAST) PDF resmi lengkap dengan tanda tangan kedua pihak.</a:t>
            </a:r>
          </a:p>
        </p:txBody>
      </p:sp>
      <p:sp>
        <p:nvSpPr>
          <p:cNvPr id="11" name="Rounded Rectangle 10"/>
          <p:cNvSpPr/>
          <p:nvPr/>
        </p:nvSpPr>
        <p:spPr>
          <a:xfrm>
            <a:off x="731520" y="3749039"/>
            <a:ext cx="5257800" cy="219456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931919"/>
            <a:ext cx="4800600" cy="1828800"/>
          </a:xfrm>
          <a:prstGeom prst="rect">
            <a:avLst/>
          </a:prstGeom>
          <a:noFill/>
        </p:spPr>
        <p:txBody>
          <a:bodyPr wrap="square">
            <a:spAutoFit/>
          </a:bodyPr>
          <a:lstStyle/>
          <a:p>
            <a:pPr>
              <a:spcAft>
                <a:spcPts val="800"/>
              </a:spcAft>
            </a:pPr>
            <a:r>
              <a:rPr sz="1400" b="1" i="0">
                <a:solidFill>
                  <a:srgbClr val="0F2942"/>
                </a:solidFill>
                <a:latin typeface="Calibri"/>
              </a:rPr>
              <a:t>3. Memo Pengajuan Pengadaan Barang</a:t>
            </a:r>
          </a:p>
          <a:p>
            <a:r>
              <a:rPr sz="1100" b="0" i="0">
                <a:solidFill>
                  <a:srgbClr val="1E293B"/>
                </a:solidFill>
                <a:latin typeface="Calibri"/>
              </a:rPr>
              <a:t>Penggantian printer rusak atau keyboard baru tidak lagi memakai kertas disposisi yang rawan tercecer. Cukup input di form Memo Pengadaan digital untuk persetujuan Pincab &amp; Direksi.</a:t>
            </a:r>
          </a:p>
        </p:txBody>
      </p:sp>
      <p:sp>
        <p:nvSpPr>
          <p:cNvPr id="13" name="Rounded Rectangle 12"/>
          <p:cNvSpPr/>
          <p:nvPr/>
        </p:nvSpPr>
        <p:spPr>
          <a:xfrm>
            <a:off x="6172200" y="3749039"/>
            <a:ext cx="5257800" cy="2194560"/>
          </a:xfrm>
          <a:prstGeom prst="roundRect">
            <a:avLst/>
          </a:prstGeom>
          <a:solidFill>
            <a:srgbClr val="FEF2F2"/>
          </a:solidFill>
          <a:ln w="1270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931919"/>
            <a:ext cx="4800600" cy="1828800"/>
          </a:xfrm>
          <a:prstGeom prst="rect">
            <a:avLst/>
          </a:prstGeom>
          <a:noFill/>
        </p:spPr>
        <p:txBody>
          <a:bodyPr wrap="square">
            <a:spAutoFit/>
          </a:bodyPr>
          <a:lstStyle/>
          <a:p>
            <a:pPr>
              <a:spcAft>
                <a:spcPts val="800"/>
              </a:spcAft>
            </a:pPr>
            <a:r>
              <a:rPr sz="1400" b="1" i="0">
                <a:solidFill>
                  <a:srgbClr val="0F2942"/>
                </a:solidFill>
                <a:latin typeface="Calibri"/>
              </a:rPr>
              <a:t>4. Modul Penghapusan / Afkir (Disposal)</a:t>
            </a:r>
          </a:p>
          <a:p>
            <a:r>
              <a:rPr sz="1100" b="0" i="0">
                <a:solidFill>
                  <a:srgbClr val="1E293B"/>
                </a:solidFill>
                <a:latin typeface="Calibri"/>
              </a:rPr>
              <a:t>Aset yang sudah rusak total dan tidak bernilai ekonomis diajukan lewat modul disposal dengan rekomendasi teknis IT, Berita Acara Afkir, dan penyesuaian nilai buku neraca.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942"/>
          </a:solidFill>
          <a:ln>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D6EFD"/>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tIns="0" bIns="0" lIns="0" rIns="0">
            <a:spAutoFit/>
          </a:bodyPr>
          <a:lstStyle/>
          <a:p>
            <a:pPr>
              <a:spcAft>
                <a:spcPts val="200"/>
              </a:spcAft>
            </a:pPr>
            <a:r>
              <a:rPr sz="950" b="1" i="0">
                <a:solidFill>
                  <a:srgbClr val="93C5FD"/>
                </a:solidFill>
                <a:latin typeface="Calibri"/>
              </a:rPr>
              <a:t>3. FITUR UNGGULAN</a:t>
            </a:r>
          </a:p>
          <a:p>
            <a:r>
              <a:rPr sz="2000" b="1" i="0">
                <a:solidFill>
                  <a:srgbClr val="FFFFFF"/>
                </a:solidFill>
                <a:latin typeface="Calibri"/>
              </a:rPr>
              <a:t>Fitur 4: Buku Tamu Digital Ruang Server (Akses Terbatas)</a:t>
            </a:r>
          </a:p>
        </p:txBody>
      </p:sp>
      <p:sp>
        <p:nvSpPr>
          <p:cNvPr id="5" name="TextBox 4"/>
          <p:cNvSpPr txBox="1"/>
          <p:nvPr/>
        </p:nvSpPr>
        <p:spPr>
          <a:xfrm>
            <a:off x="9601200" y="182880"/>
            <a:ext cx="1828800" cy="685800"/>
          </a:xfrm>
          <a:prstGeom prst="rect">
            <a:avLst/>
          </a:prstGeom>
          <a:noFill/>
        </p:spPr>
        <p:txBody>
          <a:bodyPr wrap="square">
            <a:spAutoFit/>
          </a:bodyPr>
          <a:lstStyle/>
          <a:p>
            <a:pPr algn="r"/>
            <a:r>
              <a:rPr sz="1000" b="1" i="0">
                <a:solidFill>
                  <a:srgbClr val="CBD5E1"/>
                </a:solidFill>
                <a:latin typeface="Calibri"/>
              </a:rPr>
              <a:t>BANK MITRA  |  07/12</a:t>
            </a:r>
          </a:p>
        </p:txBody>
      </p:sp>
      <p:sp>
        <p:nvSpPr>
          <p:cNvPr id="6" name="TextBox 5"/>
          <p:cNvSpPr txBox="1"/>
          <p:nvPr/>
        </p:nvSpPr>
        <p:spPr>
          <a:xfrm>
            <a:off x="731520" y="6537960"/>
            <a:ext cx="10728655" cy="274320"/>
          </a:xfrm>
          <a:prstGeom prst="rect">
            <a:avLst/>
          </a:prstGeom>
          <a:noFill/>
        </p:spPr>
        <p:txBody>
          <a:bodyPr wrap="none" tIns="0" bIns="0" lIns="0" rIns="0">
            <a:spAutoFit/>
          </a:bodyPr>
          <a:lstStyle/>
          <a:p>
            <a:r>
              <a:rPr sz="850" b="0" i="0">
                <a:solidFill>
                  <a:srgbClr val="94A3B8"/>
                </a:solidFill>
                <a:latin typeface="Calibri"/>
              </a:rPr>
              <a:t>Sistem Manajemen Aset, Pemeliharaan IT &amp; Sarpras  •  PT. BPR Mitratama Arthabuana  •  Sharing Session 2026</a:t>
            </a:r>
          </a:p>
        </p:txBody>
      </p:sp>
      <p:sp>
        <p:nvSpPr>
          <p:cNvPr id="7" name="Rounded Rectangle 6"/>
          <p:cNvSpPr/>
          <p:nvPr/>
        </p:nvSpPr>
        <p:spPr>
          <a:xfrm>
            <a:off x="731520" y="1325880"/>
            <a:ext cx="52578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08760"/>
            <a:ext cx="4800600" cy="4480560"/>
          </a:xfrm>
          <a:prstGeom prst="rect">
            <a:avLst/>
          </a:prstGeom>
          <a:noFill/>
        </p:spPr>
        <p:txBody>
          <a:bodyPr wrap="square">
            <a:spAutoFit/>
          </a:bodyPr>
          <a:lstStyle/>
          <a:p>
            <a:pPr>
              <a:spcAft>
                <a:spcPts val="1000"/>
              </a:spcAft>
            </a:pPr>
            <a:r>
              <a:rPr sz="1500" b="1" i="0">
                <a:solidFill>
                  <a:srgbClr val="0F2942"/>
                </a:solidFill>
                <a:latin typeface="Calibri"/>
              </a:rPr>
              <a:t>Mengapa Pengamanan Fisik Ini Sangat Krusial?</a:t>
            </a:r>
          </a:p>
          <a:p>
            <a:pPr>
              <a:spcAft>
                <a:spcPts val="200"/>
              </a:spcAft>
            </a:pPr>
            <a:r>
              <a:rPr sz="1100" b="1" i="0">
                <a:solidFill>
                  <a:srgbClr val="0D6EFD"/>
                </a:solidFill>
                <a:latin typeface="Calibri"/>
              </a:rPr>
              <a:t>Zona Akses Sangat Terbatas (Restricted Zone):</a:t>
            </a:r>
          </a:p>
          <a:p>
            <a:pPr>
              <a:spcAft>
                <a:spcPts val="800"/>
              </a:spcAft>
            </a:pPr>
            <a:r>
              <a:rPr sz="1000" b="0" i="0">
                <a:solidFill>
                  <a:srgbClr val="1E293B"/>
                </a:solidFill>
                <a:latin typeface="Calibri"/>
              </a:rPr>
              <a:t>Ruang server menyimpan database tabungan dan operasional utama bank. Pintu wajib selalu terkunci dan tidak boleh dimasuki sembarang orang.</a:t>
            </a:r>
          </a:p>
          <a:p>
            <a:pPr>
              <a:spcAft>
                <a:spcPts val="200"/>
              </a:spcAft>
            </a:pPr>
            <a:r>
              <a:rPr sz="1100" b="1" i="0">
                <a:solidFill>
                  <a:srgbClr val="0D6EFD"/>
                </a:solidFill>
                <a:latin typeface="Calibri"/>
              </a:rPr>
              <a:t>Pengganti Buku Tamu Kertas Konvensional:</a:t>
            </a:r>
          </a:p>
          <a:p>
            <a:pPr>
              <a:spcAft>
                <a:spcPts val="800"/>
              </a:spcAft>
            </a:pPr>
            <a:r>
              <a:rPr sz="1000" b="0" i="0">
                <a:solidFill>
                  <a:srgbClr val="1E293B"/>
                </a:solidFill>
                <a:latin typeface="Calibri"/>
              </a:rPr>
              <a:t>Dulu buku tamu kertas sering lupa diisi, rusak, atau sulit dibaca saat diminta pemeriksa. Sekarang seluruhnya digital berbasis QR di daun pintu.</a:t>
            </a:r>
          </a:p>
          <a:p>
            <a:pPr>
              <a:spcAft>
                <a:spcPts val="200"/>
              </a:spcAft>
            </a:pPr>
            <a:r>
              <a:rPr sz="1100" b="1" i="0">
                <a:solidFill>
                  <a:srgbClr val="0D6EFD"/>
                </a:solidFill>
                <a:latin typeface="Calibri"/>
              </a:rPr>
              <a:t>Pencatatan Suhu Pendingin Presisi:</a:t>
            </a:r>
          </a:p>
          <a:p>
            <a:pPr>
              <a:spcAft>
                <a:spcPts val="800"/>
              </a:spcAft>
            </a:pPr>
            <a:r>
              <a:rPr sz="1000" b="0" i="0">
                <a:solidFill>
                  <a:srgbClr val="1E293B"/>
                </a:solidFill>
                <a:latin typeface="Calibri"/>
              </a:rPr>
              <a:t>Suhu ruangan dicatat saat pertama masuk dan saat hendak keluar (standar suhu server: 18°C – 22°C) untuk menjamin server tidak overheat.</a:t>
            </a:r>
          </a:p>
          <a:p>
            <a:pPr>
              <a:spcAft>
                <a:spcPts val="200"/>
              </a:spcAft>
            </a:pPr>
            <a:r>
              <a:rPr sz="1100" b="1" i="0">
                <a:solidFill>
                  <a:srgbClr val="0D6EFD"/>
                </a:solidFill>
                <a:latin typeface="Calibri"/>
              </a:rPr>
              <a:t>Wajib Pendampingan Staf IT:</a:t>
            </a:r>
          </a:p>
          <a:p>
            <a:pPr>
              <a:spcAft>
                <a:spcPts val="800"/>
              </a:spcAft>
            </a:pPr>
            <a:r>
              <a:rPr sz="1000" b="0" i="0">
                <a:solidFill>
                  <a:srgbClr val="1E293B"/>
                </a:solidFill>
                <a:latin typeface="Calibri"/>
              </a:rPr>
              <a:t>Setiap tamu eksternal (vendor AC, teknisi Telkom/ISP) wajib didampingi oleh personel IT resmi bank.</a:t>
            </a:r>
          </a:p>
        </p:txBody>
      </p:sp>
      <p:sp>
        <p:nvSpPr>
          <p:cNvPr id="9" name="Rounded Rectangle 8"/>
          <p:cNvSpPr/>
          <p:nvPr/>
        </p:nvSpPr>
        <p:spPr>
          <a:xfrm>
            <a:off x="6172200" y="1325880"/>
            <a:ext cx="5285232" cy="4846320"/>
          </a:xfrm>
          <a:prstGeom prst="roundRect">
            <a:avLst/>
          </a:prstGeom>
          <a:solidFill>
            <a:srgbClr val="ECFDF3"/>
          </a:solidFill>
          <a:ln w="12700">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28032" cy="4480560"/>
          </a:xfrm>
          <a:prstGeom prst="rect">
            <a:avLst/>
          </a:prstGeom>
          <a:noFill/>
        </p:spPr>
        <p:txBody>
          <a:bodyPr wrap="square">
            <a:spAutoFit/>
          </a:bodyPr>
          <a:lstStyle/>
          <a:p>
            <a:pPr>
              <a:spcAft>
                <a:spcPts val="1000"/>
              </a:spcAft>
            </a:pPr>
            <a:r>
              <a:rPr sz="1500" b="1" i="0">
                <a:solidFill>
                  <a:srgbClr val="0F2942"/>
                </a:solidFill>
                <a:latin typeface="Calibri"/>
              </a:rPr>
              <a:t>Alur Kunjungan Tamu / Vendor di Pintu Server:</a:t>
            </a:r>
          </a:p>
          <a:p>
            <a:pPr>
              <a:spcAft>
                <a:spcPts val="200"/>
              </a:spcAft>
            </a:pPr>
            <a:r>
              <a:rPr sz="1100" b="1" i="0">
                <a:solidFill>
                  <a:srgbClr val="198754"/>
                </a:solidFill>
                <a:latin typeface="Calibri"/>
              </a:rPr>
              <a:t>Langkah 1: Scan QR di Pintu Pintu</a:t>
            </a:r>
          </a:p>
          <a:p>
            <a:pPr>
              <a:spcAft>
                <a:spcPts val="800"/>
              </a:spcAft>
            </a:pPr>
            <a:r>
              <a:rPr sz="1000" b="0" i="0">
                <a:solidFill>
                  <a:srgbClr val="1E293B"/>
                </a:solidFill>
                <a:latin typeface="Calibri"/>
              </a:rPr>
              <a:t>Tamu/teknisi memindai QR code stiker di pintu ruang server menggunakan HP.</a:t>
            </a:r>
          </a:p>
          <a:p>
            <a:pPr>
              <a:spcAft>
                <a:spcPts val="200"/>
              </a:spcAft>
            </a:pPr>
            <a:r>
              <a:rPr sz="1100" b="1" i="0">
                <a:solidFill>
                  <a:srgbClr val="198754"/>
                </a:solidFill>
                <a:latin typeface="Calibri"/>
              </a:rPr>
              <a:t>Langkah 2: Isi Formulir Izin Masuk</a:t>
            </a:r>
          </a:p>
          <a:p>
            <a:pPr>
              <a:spcAft>
                <a:spcPts val="800"/>
              </a:spcAft>
            </a:pPr>
            <a:r>
              <a:rPr sz="1000" b="0" i="0">
                <a:solidFill>
                  <a:srgbClr val="1E293B"/>
                </a:solidFill>
                <a:latin typeface="Calibri"/>
              </a:rPr>
              <a:t>Memasukkan nama, instansi (misal: Vendor AC/Telkom), keperluan pekerjaan, dan foto selfie / tanda pengenal.</a:t>
            </a:r>
          </a:p>
          <a:p>
            <a:pPr>
              <a:spcAft>
                <a:spcPts val="200"/>
              </a:spcAft>
            </a:pPr>
            <a:r>
              <a:rPr sz="1100" b="1" i="0">
                <a:solidFill>
                  <a:srgbClr val="198754"/>
                </a:solidFill>
                <a:latin typeface="Calibri"/>
              </a:rPr>
              <a:t>Langkah 3: Catat Suhu Termometer Awal</a:t>
            </a:r>
          </a:p>
          <a:p>
            <a:pPr>
              <a:spcAft>
                <a:spcPts val="800"/>
              </a:spcAft>
            </a:pPr>
            <a:r>
              <a:rPr sz="1000" b="0" i="0">
                <a:solidFill>
                  <a:srgbClr val="1E293B"/>
                </a:solidFill>
                <a:latin typeface="Calibri"/>
              </a:rPr>
              <a:t>Mencatat angka termometer dinding ruangan saat masuk (misal: 19°C).</a:t>
            </a:r>
          </a:p>
          <a:p>
            <a:pPr>
              <a:spcAft>
                <a:spcPts val="200"/>
              </a:spcAft>
            </a:pPr>
            <a:r>
              <a:rPr sz="1100" b="1" i="0">
                <a:solidFill>
                  <a:srgbClr val="198754"/>
                </a:solidFill>
                <a:latin typeface="Calibri"/>
              </a:rPr>
              <a:t>Langkah 4: Pelaksanaan Pekerjaan</a:t>
            </a:r>
          </a:p>
          <a:p>
            <a:pPr>
              <a:spcAft>
                <a:spcPts val="800"/>
              </a:spcAft>
            </a:pPr>
            <a:r>
              <a:rPr sz="1000" b="0" i="0">
                <a:solidFill>
                  <a:srgbClr val="1E293B"/>
                </a:solidFill>
                <a:latin typeface="Calibri"/>
              </a:rPr>
              <a:t>Melaksanakan pekerjaan dengan pengawasan staf IT internal.</a:t>
            </a:r>
          </a:p>
          <a:p>
            <a:pPr>
              <a:spcAft>
                <a:spcPts val="200"/>
              </a:spcAft>
            </a:pPr>
            <a:r>
              <a:rPr sz="1100" b="1" i="0">
                <a:solidFill>
                  <a:srgbClr val="198754"/>
                </a:solidFill>
                <a:latin typeface="Calibri"/>
              </a:rPr>
              <a:t>Langkah 5: Scan Ulang untuk Check-Out</a:t>
            </a:r>
          </a:p>
          <a:p>
            <a:pPr>
              <a:spcAft>
                <a:spcPts val="800"/>
              </a:spcAft>
            </a:pPr>
            <a:r>
              <a:rPr sz="1000" b="0" i="0">
                <a:solidFill>
                  <a:srgbClr val="1E293B"/>
                </a:solidFill>
                <a:latin typeface="Calibri"/>
              </a:rPr>
              <a:t>Mencatat jam keluar, suhu akhir AC, ringkasan hasil kerja, dan tanda tangan digital.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942"/>
          </a:solidFill>
          <a:ln>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D6EFD"/>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tIns="0" bIns="0" lIns="0" rIns="0">
            <a:spAutoFit/>
          </a:bodyPr>
          <a:lstStyle/>
          <a:p>
            <a:pPr>
              <a:spcAft>
                <a:spcPts val="200"/>
              </a:spcAft>
            </a:pPr>
            <a:r>
              <a:rPr sz="950" b="1" i="0">
                <a:solidFill>
                  <a:srgbClr val="93C5FD"/>
                </a:solidFill>
                <a:latin typeface="Calibri"/>
              </a:rPr>
              <a:t>3. FITUR UNGGULAN</a:t>
            </a:r>
          </a:p>
          <a:p>
            <a:r>
              <a:rPr sz="2000" b="1" i="0">
                <a:solidFill>
                  <a:srgbClr val="FFFFFF"/>
                </a:solidFill>
                <a:latin typeface="Calibri"/>
              </a:rPr>
              <a:t>Fitur 5: Keamanan Siber, RBAC &amp; Jejak Audit Permanen</a:t>
            </a:r>
          </a:p>
        </p:txBody>
      </p:sp>
      <p:sp>
        <p:nvSpPr>
          <p:cNvPr id="5" name="TextBox 4"/>
          <p:cNvSpPr txBox="1"/>
          <p:nvPr/>
        </p:nvSpPr>
        <p:spPr>
          <a:xfrm>
            <a:off x="9601200" y="182880"/>
            <a:ext cx="1828800" cy="685800"/>
          </a:xfrm>
          <a:prstGeom prst="rect">
            <a:avLst/>
          </a:prstGeom>
          <a:noFill/>
        </p:spPr>
        <p:txBody>
          <a:bodyPr wrap="square">
            <a:spAutoFit/>
          </a:bodyPr>
          <a:lstStyle/>
          <a:p>
            <a:pPr algn="r"/>
            <a:r>
              <a:rPr sz="1000" b="1" i="0">
                <a:solidFill>
                  <a:srgbClr val="CBD5E1"/>
                </a:solidFill>
                <a:latin typeface="Calibri"/>
              </a:rPr>
              <a:t>BANK MITRA  |  08/12</a:t>
            </a:r>
          </a:p>
        </p:txBody>
      </p:sp>
      <p:sp>
        <p:nvSpPr>
          <p:cNvPr id="6" name="TextBox 5"/>
          <p:cNvSpPr txBox="1"/>
          <p:nvPr/>
        </p:nvSpPr>
        <p:spPr>
          <a:xfrm>
            <a:off x="731520" y="6537960"/>
            <a:ext cx="10728655" cy="274320"/>
          </a:xfrm>
          <a:prstGeom prst="rect">
            <a:avLst/>
          </a:prstGeom>
          <a:noFill/>
        </p:spPr>
        <p:txBody>
          <a:bodyPr wrap="none" tIns="0" bIns="0" lIns="0" rIns="0">
            <a:spAutoFit/>
          </a:bodyPr>
          <a:lstStyle/>
          <a:p>
            <a:r>
              <a:rPr sz="850" b="0" i="0">
                <a:solidFill>
                  <a:srgbClr val="94A3B8"/>
                </a:solidFill>
                <a:latin typeface="Calibri"/>
              </a:rPr>
              <a:t>Sistem Manajemen Aset, Pemeliharaan IT &amp; Sarpras  •  PT. BPR Mitratama Arthabuana  •  Sharing Session 2026</a:t>
            </a:r>
          </a:p>
        </p:txBody>
      </p:sp>
      <p:sp>
        <p:nvSpPr>
          <p:cNvPr id="7" name="Rounded Rectangle 6"/>
          <p:cNvSpPr/>
          <p:nvPr/>
        </p:nvSpPr>
        <p:spPr>
          <a:xfrm>
            <a:off x="731520" y="1325880"/>
            <a:ext cx="5257800" cy="2194560"/>
          </a:xfrm>
          <a:prstGeom prst="roundRect">
            <a:avLst/>
          </a:prstGeom>
          <a:solidFill>
            <a:srgbClr val="EBF3FF"/>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08760"/>
            <a:ext cx="4800600" cy="1828800"/>
          </a:xfrm>
          <a:prstGeom prst="rect">
            <a:avLst/>
          </a:prstGeom>
          <a:noFill/>
        </p:spPr>
        <p:txBody>
          <a:bodyPr wrap="square">
            <a:spAutoFit/>
          </a:bodyPr>
          <a:lstStyle/>
          <a:p>
            <a:pPr>
              <a:spcAft>
                <a:spcPts val="800"/>
              </a:spcAft>
            </a:pPr>
            <a:r>
              <a:rPr sz="1400" b="1" i="0">
                <a:solidFill>
                  <a:srgbClr val="1E293B"/>
                </a:solidFill>
                <a:latin typeface="Calibri"/>
              </a:rPr>
              <a:t>Matriks Hak Akses (RBAC 8 Profil)</a:t>
            </a:r>
          </a:p>
          <a:p>
            <a:r>
              <a:rPr sz="1100" b="0" i="0">
                <a:solidFill>
                  <a:srgbClr val="1E293B"/>
                </a:solidFill>
                <a:latin typeface="Calibri"/>
              </a:rPr>
              <a:t>Pemisahan wewenang ketat (Prinsip Least Privilege): Admin IT, Teknisi, Supervisor SDM, Staff Sarpras, SKAI Auditor, Pincab, Karyawan Meja, dan Tamu Vendor. Tidak ada akun yang memiliki akses di luar porsinya.</a:t>
            </a:r>
          </a:p>
        </p:txBody>
      </p:sp>
      <p:sp>
        <p:nvSpPr>
          <p:cNvPr id="9" name="Rounded Rectangle 8"/>
          <p:cNvSpPr/>
          <p:nvPr/>
        </p:nvSpPr>
        <p:spPr>
          <a:xfrm>
            <a:off x="6172200" y="1325880"/>
            <a:ext cx="5257800" cy="2194560"/>
          </a:xfrm>
          <a:prstGeom prst="roundRect">
            <a:avLst/>
          </a:prstGeom>
          <a:solidFill>
            <a:srgbClr val="ECFDF3"/>
          </a:solidFill>
          <a:ln w="12700">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00600" cy="1828800"/>
          </a:xfrm>
          <a:prstGeom prst="rect">
            <a:avLst/>
          </a:prstGeom>
          <a:noFill/>
        </p:spPr>
        <p:txBody>
          <a:bodyPr wrap="square">
            <a:spAutoFit/>
          </a:bodyPr>
          <a:lstStyle/>
          <a:p>
            <a:pPr>
              <a:spcAft>
                <a:spcPts val="800"/>
              </a:spcAft>
            </a:pPr>
            <a:r>
              <a:rPr sz="1400" b="1" i="0">
                <a:solidFill>
                  <a:srgbClr val="1E293B"/>
                </a:solidFill>
                <a:latin typeface="Calibri"/>
              </a:rPr>
              <a:t>Kriptografi Modern &amp; Biometrik FIDO2</a:t>
            </a:r>
          </a:p>
          <a:p>
            <a:r>
              <a:rPr sz="1100" b="0" i="0">
                <a:solidFill>
                  <a:srgbClr val="1E293B"/>
                </a:solidFill>
                <a:latin typeface="Calibri"/>
              </a:rPr>
              <a:t>Kata sandi dienkripsi dengan standar internasional Argon2ID. Mendukung otentikasi biometrik sidik jari/wajah FIDO2 WebAuthn, serta proteksi lockout otomatis jika 5 kali gagal login.</a:t>
            </a:r>
          </a:p>
        </p:txBody>
      </p:sp>
      <p:sp>
        <p:nvSpPr>
          <p:cNvPr id="11" name="Rounded Rectangle 10"/>
          <p:cNvSpPr/>
          <p:nvPr/>
        </p:nvSpPr>
        <p:spPr>
          <a:xfrm>
            <a:off x="731520" y="3749039"/>
            <a:ext cx="5257800" cy="2194560"/>
          </a:xfrm>
          <a:prstGeom prst="roundRect">
            <a:avLst/>
          </a:prstGeom>
          <a:solidFill>
            <a:srgbClr val="1A3D5E"/>
          </a:solidFill>
          <a:ln w="12700">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931919"/>
            <a:ext cx="4800600" cy="1828800"/>
          </a:xfrm>
          <a:prstGeom prst="rect">
            <a:avLst/>
          </a:prstGeom>
          <a:noFill/>
        </p:spPr>
        <p:txBody>
          <a:bodyPr wrap="square">
            <a:spAutoFit/>
          </a:bodyPr>
          <a:lstStyle/>
          <a:p>
            <a:pPr>
              <a:spcAft>
                <a:spcPts val="800"/>
              </a:spcAft>
            </a:pPr>
            <a:r>
              <a:rPr sz="1400" b="1" i="0">
                <a:solidFill>
                  <a:srgbClr val="FFFFFF"/>
                </a:solidFill>
                <a:latin typeface="Calibri"/>
              </a:rPr>
              <a:t>Jejak Audit Permanen (Tamper-Proof)</a:t>
            </a:r>
          </a:p>
          <a:p>
            <a:r>
              <a:rPr sz="1100" b="0" i="0">
                <a:solidFill>
                  <a:srgbClr val="E2E8F0"/>
                </a:solidFill>
                <a:latin typeface="Calibri"/>
              </a:rPr>
              <a:t>Seluruh transaksi dicatat ke tabel system_audit_logs: siapa pengguna, aksi apa yang dilakukan, data sebelum dan sesudah diubah, alamat IP, dan waktu riil. Tidak ada tombol hapus di log audit.</a:t>
            </a:r>
          </a:p>
        </p:txBody>
      </p:sp>
      <p:sp>
        <p:nvSpPr>
          <p:cNvPr id="13" name="Rounded Rectangle 12"/>
          <p:cNvSpPr/>
          <p:nvPr/>
        </p:nvSpPr>
        <p:spPr>
          <a:xfrm>
            <a:off x="6172200" y="3749039"/>
            <a:ext cx="5257800" cy="219456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931919"/>
            <a:ext cx="4800600" cy="1828800"/>
          </a:xfrm>
          <a:prstGeom prst="rect">
            <a:avLst/>
          </a:prstGeom>
          <a:noFill/>
        </p:spPr>
        <p:txBody>
          <a:bodyPr wrap="square">
            <a:spAutoFit/>
          </a:bodyPr>
          <a:lstStyle/>
          <a:p>
            <a:pPr>
              <a:spcAft>
                <a:spcPts val="800"/>
              </a:spcAft>
            </a:pPr>
            <a:r>
              <a:rPr sz="1400" b="1" i="0">
                <a:solidFill>
                  <a:srgbClr val="1E293B"/>
                </a:solidFill>
                <a:latin typeface="Calibri"/>
              </a:rPr>
              <a:t>Token QR Acak (Cryptographic Hash)</a:t>
            </a:r>
          </a:p>
          <a:p>
            <a:r>
              <a:rPr sz="1100" b="0" i="0">
                <a:solidFill>
                  <a:srgbClr val="1E293B"/>
                </a:solidFill>
                <a:latin typeface="Calibri"/>
              </a:rPr>
              <a:t>Stiker QR meja tidak mengekspos ID database, melainkan menggunakan token acak terenkripsi SHA-256. Mencegah manipulasi URL atau akses data tidak sah dari luar.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942"/>
          </a:solidFill>
          <a:ln>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D6EFD"/>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tIns="0" bIns="0" lIns="0" rIns="0">
            <a:spAutoFit/>
          </a:bodyPr>
          <a:lstStyle/>
          <a:p>
            <a:pPr>
              <a:spcAft>
                <a:spcPts val="200"/>
              </a:spcAft>
            </a:pPr>
            <a:r>
              <a:rPr sz="950" b="1" i="0">
                <a:solidFill>
                  <a:srgbClr val="93C5FD"/>
                </a:solidFill>
                <a:latin typeface="Calibri"/>
              </a:rPr>
              <a:t>4. KEPATUHAN REGULASI</a:t>
            </a:r>
          </a:p>
          <a:p>
            <a:r>
              <a:rPr sz="2000" b="1" i="0">
                <a:solidFill>
                  <a:srgbClr val="FFFFFF"/>
                </a:solidFill>
                <a:latin typeface="Calibri"/>
              </a:rPr>
              <a:t>Keselarasan Sistem dengan Ketentuan Regulasi Perbankan Terkini</a:t>
            </a:r>
          </a:p>
        </p:txBody>
      </p:sp>
      <p:sp>
        <p:nvSpPr>
          <p:cNvPr id="5" name="TextBox 4"/>
          <p:cNvSpPr txBox="1"/>
          <p:nvPr/>
        </p:nvSpPr>
        <p:spPr>
          <a:xfrm>
            <a:off x="9601200" y="182880"/>
            <a:ext cx="1828800" cy="685800"/>
          </a:xfrm>
          <a:prstGeom prst="rect">
            <a:avLst/>
          </a:prstGeom>
          <a:noFill/>
        </p:spPr>
        <p:txBody>
          <a:bodyPr wrap="square">
            <a:spAutoFit/>
          </a:bodyPr>
          <a:lstStyle/>
          <a:p>
            <a:pPr algn="r"/>
            <a:r>
              <a:rPr sz="1000" b="1" i="0">
                <a:solidFill>
                  <a:srgbClr val="CBD5E1"/>
                </a:solidFill>
                <a:latin typeface="Calibri"/>
              </a:rPr>
              <a:t>BANK MITRA  |  09/12</a:t>
            </a:r>
          </a:p>
        </p:txBody>
      </p:sp>
      <p:sp>
        <p:nvSpPr>
          <p:cNvPr id="6" name="TextBox 5"/>
          <p:cNvSpPr txBox="1"/>
          <p:nvPr/>
        </p:nvSpPr>
        <p:spPr>
          <a:xfrm>
            <a:off x="731520" y="6537960"/>
            <a:ext cx="10728655" cy="274320"/>
          </a:xfrm>
          <a:prstGeom prst="rect">
            <a:avLst/>
          </a:prstGeom>
          <a:noFill/>
        </p:spPr>
        <p:txBody>
          <a:bodyPr wrap="none" tIns="0" bIns="0" lIns="0" rIns="0">
            <a:spAutoFit/>
          </a:bodyPr>
          <a:lstStyle/>
          <a:p>
            <a:r>
              <a:rPr sz="850" b="0" i="0">
                <a:solidFill>
                  <a:srgbClr val="94A3B8"/>
                </a:solidFill>
                <a:latin typeface="Calibri"/>
              </a:rPr>
              <a:t>Sistem Manajemen Aset, Pemeliharaan IT &amp; Sarpras  •  PT. BPR Mitratama Arthabuana  •  Sharing Session 2026</a:t>
            </a:r>
          </a:p>
        </p:txBody>
      </p:sp>
      <p:sp>
        <p:nvSpPr>
          <p:cNvPr id="7" name="Rounded Rectangle 6"/>
          <p:cNvSpPr/>
          <p:nvPr/>
        </p:nvSpPr>
        <p:spPr>
          <a:xfrm>
            <a:off x="731520" y="1325880"/>
            <a:ext cx="5257800" cy="1444752"/>
          </a:xfrm>
          <a:prstGeom prst="roundRect">
            <a:avLst/>
          </a:prstGeom>
          <a:solidFill>
            <a:srgbClr val="F8FAFC"/>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35608"/>
            <a:ext cx="4892040" cy="1225296"/>
          </a:xfrm>
          <a:prstGeom prst="rect">
            <a:avLst/>
          </a:prstGeom>
          <a:noFill/>
        </p:spPr>
        <p:txBody>
          <a:bodyPr wrap="square">
            <a:spAutoFit/>
          </a:bodyPr>
          <a:lstStyle/>
          <a:p>
            <a:pPr>
              <a:spcAft>
                <a:spcPts val="300"/>
              </a:spcAft>
            </a:pPr>
            <a:r>
              <a:rPr sz="1250" b="1" i="0">
                <a:solidFill>
                  <a:srgbClr val="0F2942"/>
                </a:solidFill>
                <a:latin typeface="Calibri"/>
              </a:rPr>
              <a:t>1. Penguatan Tata Kelola TI</a:t>
            </a:r>
          </a:p>
          <a:p>
            <a:r>
              <a:rPr sz="1000" b="0" i="0">
                <a:solidFill>
                  <a:srgbClr val="1E293B"/>
                </a:solidFill>
                <a:latin typeface="Calibri"/>
              </a:rPr>
              <a:t>Keterlibatan aktif Direksi dan komite pengarah lintas divisi melalui pengesahan memo dan pelaporan terpadu.</a:t>
            </a:r>
          </a:p>
        </p:txBody>
      </p:sp>
      <p:sp>
        <p:nvSpPr>
          <p:cNvPr id="9" name="Rounded Rectangle 8"/>
          <p:cNvSpPr/>
          <p:nvPr/>
        </p:nvSpPr>
        <p:spPr>
          <a:xfrm>
            <a:off x="6172200" y="1325880"/>
            <a:ext cx="5257800" cy="1444752"/>
          </a:xfrm>
          <a:prstGeom prst="roundRect">
            <a:avLst/>
          </a:prstGeom>
          <a:solidFill>
            <a:srgbClr val="F8FAFC"/>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435608"/>
            <a:ext cx="4892040" cy="1225296"/>
          </a:xfrm>
          <a:prstGeom prst="rect">
            <a:avLst/>
          </a:prstGeom>
          <a:noFill/>
        </p:spPr>
        <p:txBody>
          <a:bodyPr wrap="square">
            <a:spAutoFit/>
          </a:bodyPr>
          <a:lstStyle/>
          <a:p>
            <a:pPr>
              <a:spcAft>
                <a:spcPts val="300"/>
              </a:spcAft>
            </a:pPr>
            <a:r>
              <a:rPr sz="1250" b="1" i="0">
                <a:solidFill>
                  <a:srgbClr val="0F2942"/>
                </a:solidFill>
                <a:latin typeface="Calibri"/>
              </a:rPr>
              <a:t>2. Ketahanan Siber (Cyber Resilience)</a:t>
            </a:r>
          </a:p>
          <a:p>
            <a:r>
              <a:rPr sz="1000" b="0" i="0">
                <a:solidFill>
                  <a:srgbClr val="1E293B"/>
                </a:solidFill>
                <a:latin typeface="Calibri"/>
              </a:rPr>
              <a:t>Mitigasi serangan siber melalui checklist update antivirus, patch keamanan OS, dan enkripsi password mutakhir.</a:t>
            </a:r>
          </a:p>
        </p:txBody>
      </p:sp>
      <p:sp>
        <p:nvSpPr>
          <p:cNvPr id="11" name="Rounded Rectangle 10"/>
          <p:cNvSpPr/>
          <p:nvPr/>
        </p:nvSpPr>
        <p:spPr>
          <a:xfrm>
            <a:off x="731520" y="1325880"/>
            <a:ext cx="5257800" cy="1444752"/>
          </a:xfrm>
          <a:prstGeom prst="roundRect">
            <a:avLst/>
          </a:prstGeom>
          <a:solidFill>
            <a:srgbClr val="F8FAFC"/>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435608"/>
            <a:ext cx="4892040" cy="1225296"/>
          </a:xfrm>
          <a:prstGeom prst="rect">
            <a:avLst/>
          </a:prstGeom>
          <a:noFill/>
        </p:spPr>
        <p:txBody>
          <a:bodyPr wrap="square">
            <a:spAutoFit/>
          </a:bodyPr>
          <a:lstStyle/>
          <a:p>
            <a:pPr>
              <a:spcAft>
                <a:spcPts val="300"/>
              </a:spcAft>
            </a:pPr>
            <a:r>
              <a:rPr sz="1250" b="1" i="0">
                <a:solidFill>
                  <a:srgbClr val="0F2942"/>
                </a:solidFill>
                <a:latin typeface="Calibri"/>
              </a:rPr>
              <a:t>3. Perlindungan Kerahasiaan Data</a:t>
            </a:r>
          </a:p>
          <a:p>
            <a:r>
              <a:rPr sz="1000" b="0" i="0">
                <a:solidFill>
                  <a:srgbClr val="1E293B"/>
                </a:solidFill>
                <a:latin typeface="Calibri"/>
              </a:rPr>
              <a:t>Penerapan wewenang Least Privilege, enkripsi data sensitif, dan proteksi URL QR terhadap ancaman kebocoran data.</a:t>
            </a:r>
          </a:p>
        </p:txBody>
      </p:sp>
      <p:sp>
        <p:nvSpPr>
          <p:cNvPr id="13" name="Rounded Rectangle 12"/>
          <p:cNvSpPr/>
          <p:nvPr/>
        </p:nvSpPr>
        <p:spPr>
          <a:xfrm>
            <a:off x="6172200" y="2926080"/>
            <a:ext cx="5257800" cy="1444752"/>
          </a:xfrm>
          <a:prstGeom prst="roundRect">
            <a:avLst/>
          </a:prstGeom>
          <a:solidFill>
            <a:srgbClr val="F8FAFC"/>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035808"/>
            <a:ext cx="4892040" cy="1225296"/>
          </a:xfrm>
          <a:prstGeom prst="rect">
            <a:avLst/>
          </a:prstGeom>
          <a:noFill/>
        </p:spPr>
        <p:txBody>
          <a:bodyPr wrap="square">
            <a:spAutoFit/>
          </a:bodyPr>
          <a:lstStyle/>
          <a:p>
            <a:pPr>
              <a:spcAft>
                <a:spcPts val="300"/>
              </a:spcAft>
            </a:pPr>
            <a:r>
              <a:rPr sz="1250" b="1" i="0">
                <a:solidFill>
                  <a:srgbClr val="0F2942"/>
                </a:solidFill>
                <a:latin typeface="Calibri"/>
              </a:rPr>
              <a:t>4. Manajemen Risiko Pihak Ketiga</a:t>
            </a:r>
          </a:p>
          <a:p>
            <a:r>
              <a:rPr sz="1000" b="0" i="0">
                <a:solidFill>
                  <a:srgbClr val="1E293B"/>
                </a:solidFill>
                <a:latin typeface="Calibri"/>
              </a:rPr>
              <a:t>Pengawasan ketat terhadap vendor/rekanan luar yang bekerja di fasilitas kritis bank melalui buku tamu digital.</a:t>
            </a:r>
          </a:p>
        </p:txBody>
      </p:sp>
      <p:sp>
        <p:nvSpPr>
          <p:cNvPr id="15" name="Rounded Rectangle 14"/>
          <p:cNvSpPr/>
          <p:nvPr/>
        </p:nvSpPr>
        <p:spPr>
          <a:xfrm>
            <a:off x="731520" y="2926080"/>
            <a:ext cx="5257800" cy="1444752"/>
          </a:xfrm>
          <a:prstGeom prst="roundRect">
            <a:avLst/>
          </a:prstGeom>
          <a:solidFill>
            <a:srgbClr val="F8FAFC"/>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035808"/>
            <a:ext cx="4892040" cy="1225296"/>
          </a:xfrm>
          <a:prstGeom prst="rect">
            <a:avLst/>
          </a:prstGeom>
          <a:noFill/>
        </p:spPr>
        <p:txBody>
          <a:bodyPr wrap="square">
            <a:spAutoFit/>
          </a:bodyPr>
          <a:lstStyle/>
          <a:p>
            <a:pPr>
              <a:spcAft>
                <a:spcPts val="300"/>
              </a:spcAft>
            </a:pPr>
            <a:r>
              <a:rPr sz="1250" b="1" i="0">
                <a:solidFill>
                  <a:srgbClr val="0F2942"/>
                </a:solidFill>
                <a:latin typeface="Calibri"/>
              </a:rPr>
              <a:t>5. Rencana Pemulihan Bencana (DRP)</a:t>
            </a:r>
          </a:p>
          <a:p>
            <a:r>
              <a:rPr sz="1000" b="0" i="0">
                <a:solidFill>
                  <a:srgbClr val="1E293B"/>
                </a:solidFill>
                <a:latin typeface="Calibri"/>
              </a:rPr>
              <a:t>Pencegahan henti layanan nasabah melalui inspeksi berkala kesehatan baterai UPS meja dan kelistrikan gedung.</a:t>
            </a:r>
          </a:p>
        </p:txBody>
      </p:sp>
      <p:sp>
        <p:nvSpPr>
          <p:cNvPr id="17" name="Rounded Rectangle 16"/>
          <p:cNvSpPr/>
          <p:nvPr/>
        </p:nvSpPr>
        <p:spPr>
          <a:xfrm>
            <a:off x="6172200" y="2926080"/>
            <a:ext cx="5257800" cy="1444752"/>
          </a:xfrm>
          <a:prstGeom prst="roundRect">
            <a:avLst/>
          </a:prstGeom>
          <a:solidFill>
            <a:srgbClr val="F8FAFC"/>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035808"/>
            <a:ext cx="4892040" cy="1225296"/>
          </a:xfrm>
          <a:prstGeom prst="rect">
            <a:avLst/>
          </a:prstGeom>
          <a:noFill/>
        </p:spPr>
        <p:txBody>
          <a:bodyPr wrap="square">
            <a:spAutoFit/>
          </a:bodyPr>
          <a:lstStyle/>
          <a:p>
            <a:pPr>
              <a:spcAft>
                <a:spcPts val="300"/>
              </a:spcAft>
            </a:pPr>
            <a:r>
              <a:rPr sz="1250" b="1" i="0">
                <a:solidFill>
                  <a:srgbClr val="0F2942"/>
                </a:solidFill>
                <a:latin typeface="Calibri"/>
              </a:rPr>
              <a:t>6. Deteksi &amp; Alert Insiden Cepat</a:t>
            </a:r>
          </a:p>
          <a:p>
            <a:r>
              <a:rPr sz="1000" b="0" i="0">
                <a:solidFill>
                  <a:srgbClr val="1E293B"/>
                </a:solidFill>
                <a:latin typeface="Calibri"/>
              </a:rPr>
              <a:t>Tampilan indikator meja berkedip merah saat terjadi kendala aktif untuk percepatan respon perbaikan teknisi.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942"/>
          </a:solidFill>
          <a:ln>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D6EFD"/>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tIns="0" bIns="0" lIns="0" rIns="0">
            <a:spAutoFit/>
          </a:bodyPr>
          <a:lstStyle/>
          <a:p>
            <a:pPr>
              <a:spcAft>
                <a:spcPts val="200"/>
              </a:spcAft>
            </a:pPr>
            <a:r>
              <a:rPr sz="950" b="1" i="0">
                <a:solidFill>
                  <a:srgbClr val="93C5FD"/>
                </a:solidFill>
                <a:latin typeface="Calibri"/>
              </a:rPr>
              <a:t>5. RENCANA KE DEPAN</a:t>
            </a:r>
          </a:p>
          <a:p>
            <a:r>
              <a:rPr sz="2000" b="1" i="0">
                <a:solidFill>
                  <a:srgbClr val="FFFFFF"/>
                </a:solidFill>
                <a:latin typeface="Calibri"/>
              </a:rPr>
              <a:t>Rencana Pengembangan Fitur Tambahan (Roadmap Inovasi)</a:t>
            </a:r>
          </a:p>
        </p:txBody>
      </p:sp>
      <p:sp>
        <p:nvSpPr>
          <p:cNvPr id="5" name="TextBox 4"/>
          <p:cNvSpPr txBox="1"/>
          <p:nvPr/>
        </p:nvSpPr>
        <p:spPr>
          <a:xfrm>
            <a:off x="9601200" y="182880"/>
            <a:ext cx="1828800" cy="685800"/>
          </a:xfrm>
          <a:prstGeom prst="rect">
            <a:avLst/>
          </a:prstGeom>
          <a:noFill/>
        </p:spPr>
        <p:txBody>
          <a:bodyPr wrap="square">
            <a:spAutoFit/>
          </a:bodyPr>
          <a:lstStyle/>
          <a:p>
            <a:pPr algn="r"/>
            <a:r>
              <a:rPr sz="1000" b="1" i="0">
                <a:solidFill>
                  <a:srgbClr val="CBD5E1"/>
                </a:solidFill>
                <a:latin typeface="Calibri"/>
              </a:rPr>
              <a:t>BANK MITRA  |  10/12</a:t>
            </a:r>
          </a:p>
        </p:txBody>
      </p:sp>
      <p:sp>
        <p:nvSpPr>
          <p:cNvPr id="6" name="TextBox 5"/>
          <p:cNvSpPr txBox="1"/>
          <p:nvPr/>
        </p:nvSpPr>
        <p:spPr>
          <a:xfrm>
            <a:off x="731520" y="6537960"/>
            <a:ext cx="10728655" cy="274320"/>
          </a:xfrm>
          <a:prstGeom prst="rect">
            <a:avLst/>
          </a:prstGeom>
          <a:noFill/>
        </p:spPr>
        <p:txBody>
          <a:bodyPr wrap="none" tIns="0" bIns="0" lIns="0" rIns="0">
            <a:spAutoFit/>
          </a:bodyPr>
          <a:lstStyle/>
          <a:p>
            <a:r>
              <a:rPr sz="850" b="0" i="0">
                <a:solidFill>
                  <a:srgbClr val="94A3B8"/>
                </a:solidFill>
                <a:latin typeface="Calibri"/>
              </a:rPr>
              <a:t>Sistem Manajemen Aset, Pemeliharaan IT &amp; Sarpras  •  PT. BPR Mitratama Arthabuana  •  Sharing Session 2026</a:t>
            </a:r>
          </a:p>
        </p:txBody>
      </p:sp>
      <p:sp>
        <p:nvSpPr>
          <p:cNvPr id="7" name="Rounded Rectangle 6"/>
          <p:cNvSpPr/>
          <p:nvPr/>
        </p:nvSpPr>
        <p:spPr>
          <a:xfrm>
            <a:off x="731520" y="1325880"/>
            <a:ext cx="5257800" cy="2194560"/>
          </a:xfrm>
          <a:prstGeom prst="roundRect">
            <a:avLst/>
          </a:prstGeom>
          <a:solidFill>
            <a:srgbClr val="EBF3FF"/>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08760"/>
            <a:ext cx="4800600" cy="1828800"/>
          </a:xfrm>
          <a:prstGeom prst="rect">
            <a:avLst/>
          </a:prstGeom>
          <a:noFill/>
        </p:spPr>
        <p:txBody>
          <a:bodyPr wrap="square">
            <a:spAutoFit/>
          </a:bodyPr>
          <a:lstStyle/>
          <a:p>
            <a:pPr>
              <a:spcAft>
                <a:spcPts val="800"/>
              </a:spcAft>
            </a:pPr>
            <a:r>
              <a:rPr sz="1400" b="1" i="0">
                <a:solidFill>
                  <a:srgbClr val="0F2942"/>
                </a:solidFill>
                <a:latin typeface="Calibri"/>
              </a:rPr>
              <a:t>1. Modul Pencatatan Insiden Siber 1x24 Jam</a:t>
            </a:r>
          </a:p>
          <a:p>
            <a:r>
              <a:rPr sz="1100" b="0" i="0">
                <a:solidFill>
                  <a:srgbClr val="1E293B"/>
                </a:solidFill>
                <a:latin typeface="Calibri"/>
              </a:rPr>
              <a:t>Formulir pencatatan anomali darurat (ransomware, jaringan drop), penentuan tingkat keparahan, serta generator ringkasan laporan 1x24 jam untuk kesiapan audit.</a:t>
            </a:r>
          </a:p>
        </p:txBody>
      </p:sp>
      <p:sp>
        <p:nvSpPr>
          <p:cNvPr id="9" name="Rounded Rectangle 8"/>
          <p:cNvSpPr/>
          <p:nvPr/>
        </p:nvSpPr>
        <p:spPr>
          <a:xfrm>
            <a:off x="6172200" y="1325880"/>
            <a:ext cx="5257800" cy="2194560"/>
          </a:xfrm>
          <a:prstGeom prst="roundRect">
            <a:avLst/>
          </a:prstGeom>
          <a:solidFill>
            <a:srgbClr val="ECFDF3"/>
          </a:solidFill>
          <a:ln w="12700">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00600" cy="1828800"/>
          </a:xfrm>
          <a:prstGeom prst="rect">
            <a:avLst/>
          </a:prstGeom>
          <a:noFill/>
        </p:spPr>
        <p:txBody>
          <a:bodyPr wrap="square">
            <a:spAutoFit/>
          </a:bodyPr>
          <a:lstStyle/>
          <a:p>
            <a:pPr>
              <a:spcAft>
                <a:spcPts val="800"/>
              </a:spcAft>
            </a:pPr>
            <a:r>
              <a:rPr sz="1400" b="1" i="0">
                <a:solidFill>
                  <a:srgbClr val="0F2942"/>
                </a:solidFill>
                <a:latin typeface="Calibri"/>
              </a:rPr>
              <a:t>2. Sensor Suhu &amp; Kelembaban IoT Ruang Server</a:t>
            </a:r>
          </a:p>
          <a:p>
            <a:r>
              <a:rPr sz="1100" b="0" i="0">
                <a:solidFill>
                  <a:srgbClr val="1E293B"/>
                </a:solidFill>
                <a:latin typeface="Calibri"/>
              </a:rPr>
              <a:t>Pemasangan mikrokontroler sensor IoT di ruang server yang otomatis mengirim data suhu setiap 10 menit dan membunyikan alarm jika AC mati saat libur.</a:t>
            </a:r>
          </a:p>
        </p:txBody>
      </p:sp>
      <p:sp>
        <p:nvSpPr>
          <p:cNvPr id="11" name="Rounded Rectangle 10"/>
          <p:cNvSpPr/>
          <p:nvPr/>
        </p:nvSpPr>
        <p:spPr>
          <a:xfrm>
            <a:off x="731520" y="3749039"/>
            <a:ext cx="5257800" cy="219456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931919"/>
            <a:ext cx="4800600" cy="1828800"/>
          </a:xfrm>
          <a:prstGeom prst="rect">
            <a:avLst/>
          </a:prstGeom>
          <a:noFill/>
        </p:spPr>
        <p:txBody>
          <a:bodyPr wrap="square">
            <a:spAutoFit/>
          </a:bodyPr>
          <a:lstStyle/>
          <a:p>
            <a:pPr>
              <a:spcAft>
                <a:spcPts val="800"/>
              </a:spcAft>
            </a:pPr>
            <a:r>
              <a:rPr sz="1400" b="1" i="0">
                <a:solidFill>
                  <a:srgbClr val="0F2942"/>
                </a:solidFill>
                <a:latin typeface="Calibri"/>
              </a:rPr>
              <a:t>3. Log Uji Simulasi DRP &amp; Pengukuran RTO/RPO</a:t>
            </a:r>
          </a:p>
          <a:p>
            <a:r>
              <a:rPr sz="1100" b="0" i="0">
                <a:solidFill>
                  <a:srgbClr val="1E293B"/>
                </a:solidFill>
                <a:latin typeface="Calibri"/>
              </a:rPr>
              <a:t>Pencatatan simulasi pemadaman listrik ke genset dan uji pulihkan backup database dengan bukti pencapaian target waktu pemulihan (RTO &lt; 2 Jam).</a:t>
            </a:r>
          </a:p>
        </p:txBody>
      </p:sp>
      <p:sp>
        <p:nvSpPr>
          <p:cNvPr id="13" name="Rounded Rectangle 12"/>
          <p:cNvSpPr/>
          <p:nvPr/>
        </p:nvSpPr>
        <p:spPr>
          <a:xfrm>
            <a:off x="6172200" y="3749039"/>
            <a:ext cx="525780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931919"/>
            <a:ext cx="4800600" cy="1828800"/>
          </a:xfrm>
          <a:prstGeom prst="rect">
            <a:avLst/>
          </a:prstGeom>
          <a:noFill/>
        </p:spPr>
        <p:txBody>
          <a:bodyPr wrap="square">
            <a:spAutoFit/>
          </a:bodyPr>
          <a:lstStyle/>
          <a:p>
            <a:pPr>
              <a:spcAft>
                <a:spcPts val="800"/>
              </a:spcAft>
            </a:pPr>
            <a:r>
              <a:rPr sz="1400" b="1" i="0">
                <a:solidFill>
                  <a:srgbClr val="0F2942"/>
                </a:solidFill>
                <a:latin typeface="Calibri"/>
              </a:rPr>
              <a:t>4. Helpdesk Tiket Aduan &amp; Notifikasi Otomatis</a:t>
            </a:r>
          </a:p>
          <a:p>
            <a:r>
              <a:rPr sz="1100" b="0" i="0">
                <a:solidFill>
                  <a:srgbClr val="1E293B"/>
                </a:solidFill>
                <a:latin typeface="Calibri"/>
              </a:rPr>
              <a:t>Karyawan cabang cukup scan QR untuk komplain komputer rusak, teknisi menerima notifikasi langsung ke smartphone, dengan batas waktu solusi yang terukur.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942"/>
          </a:solidFill>
          <a:ln>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0D6EFD"/>
          </a:solidFill>
          <a:ln>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601200" cy="868680"/>
          </a:xfrm>
          <a:prstGeom prst="rect">
            <a:avLst/>
          </a:prstGeom>
          <a:noFill/>
        </p:spPr>
        <p:txBody>
          <a:bodyPr wrap="square" tIns="0" bIns="0" lIns="0" rIns="0">
            <a:spAutoFit/>
          </a:bodyPr>
          <a:lstStyle/>
          <a:p>
            <a:pPr>
              <a:spcAft>
                <a:spcPts val="200"/>
              </a:spcAft>
            </a:pPr>
            <a:r>
              <a:rPr sz="950" b="1" i="0">
                <a:solidFill>
                  <a:srgbClr val="93C5FD"/>
                </a:solidFill>
                <a:latin typeface="Calibri"/>
              </a:rPr>
              <a:t>6. NILAI TAMBAH</a:t>
            </a:r>
          </a:p>
          <a:p>
            <a:r>
              <a:rPr sz="2000" b="1" i="0">
                <a:solidFill>
                  <a:srgbClr val="FFFFFF"/>
                </a:solidFill>
                <a:latin typeface="Calibri"/>
              </a:rPr>
              <a:t>Manfaat Nyata Bagi Seluruh Pihak (Win-Win Solution)</a:t>
            </a:r>
          </a:p>
        </p:txBody>
      </p:sp>
      <p:sp>
        <p:nvSpPr>
          <p:cNvPr id="5" name="TextBox 4"/>
          <p:cNvSpPr txBox="1"/>
          <p:nvPr/>
        </p:nvSpPr>
        <p:spPr>
          <a:xfrm>
            <a:off x="9601200" y="182880"/>
            <a:ext cx="1828800" cy="685800"/>
          </a:xfrm>
          <a:prstGeom prst="rect">
            <a:avLst/>
          </a:prstGeom>
          <a:noFill/>
        </p:spPr>
        <p:txBody>
          <a:bodyPr wrap="square">
            <a:spAutoFit/>
          </a:bodyPr>
          <a:lstStyle/>
          <a:p>
            <a:pPr algn="r"/>
            <a:r>
              <a:rPr sz="1000" b="1" i="0">
                <a:solidFill>
                  <a:srgbClr val="CBD5E1"/>
                </a:solidFill>
                <a:latin typeface="Calibri"/>
              </a:rPr>
              <a:t>BANK MITRA  |  11/12</a:t>
            </a:r>
          </a:p>
        </p:txBody>
      </p:sp>
      <p:sp>
        <p:nvSpPr>
          <p:cNvPr id="6" name="TextBox 5"/>
          <p:cNvSpPr txBox="1"/>
          <p:nvPr/>
        </p:nvSpPr>
        <p:spPr>
          <a:xfrm>
            <a:off x="731520" y="6537960"/>
            <a:ext cx="10728655" cy="274320"/>
          </a:xfrm>
          <a:prstGeom prst="rect">
            <a:avLst/>
          </a:prstGeom>
          <a:noFill/>
        </p:spPr>
        <p:txBody>
          <a:bodyPr wrap="none" tIns="0" bIns="0" lIns="0" rIns="0">
            <a:spAutoFit/>
          </a:bodyPr>
          <a:lstStyle/>
          <a:p>
            <a:r>
              <a:rPr sz="850" b="0" i="0">
                <a:solidFill>
                  <a:srgbClr val="94A3B8"/>
                </a:solidFill>
                <a:latin typeface="Calibri"/>
              </a:rPr>
              <a:t>Sistem Manajemen Aset, Pemeliharaan IT &amp; Sarpras  •  PT. BPR Mitratama Arthabuana  •  Sharing Session 2026</a:t>
            </a:r>
          </a:p>
        </p:txBody>
      </p:sp>
      <p:sp>
        <p:nvSpPr>
          <p:cNvPr id="7" name="Rounded Rectangle 6"/>
          <p:cNvSpPr/>
          <p:nvPr/>
        </p:nvSpPr>
        <p:spPr>
          <a:xfrm>
            <a:off x="731520" y="1325880"/>
            <a:ext cx="2578608" cy="4846320"/>
          </a:xfrm>
          <a:prstGeom prst="roundRect">
            <a:avLst/>
          </a:prstGeom>
          <a:solidFill>
            <a:srgbClr val="1A3D5E"/>
          </a:solidFill>
          <a:ln w="12700">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08760"/>
            <a:ext cx="2249424" cy="4480560"/>
          </a:xfrm>
          <a:prstGeom prst="rect">
            <a:avLst/>
          </a:prstGeom>
          <a:noFill/>
        </p:spPr>
        <p:txBody>
          <a:bodyPr wrap="square">
            <a:spAutoFit/>
          </a:bodyPr>
          <a:lstStyle/>
          <a:p>
            <a:pPr>
              <a:spcAft>
                <a:spcPts val="1200"/>
              </a:spcAft>
            </a:pPr>
            <a:r>
              <a:rPr sz="1300" b="1" i="0">
                <a:solidFill>
                  <a:srgbClr val="FFFFFF"/>
                </a:solidFill>
                <a:latin typeface="Calibri"/>
              </a:rPr>
              <a:t>Bagi Direksi &amp; Manajemen</a:t>
            </a:r>
          </a:p>
          <a:p>
            <a:pPr>
              <a:spcAft>
                <a:spcPts val="800"/>
              </a:spcAft>
            </a:pPr>
            <a:r>
              <a:rPr sz="1050" b="0" i="0">
                <a:solidFill>
                  <a:srgbClr val="E2E8F0"/>
                </a:solidFill>
                <a:latin typeface="Calibri"/>
              </a:rPr>
              <a:t>✔ Transparansi penuh atas seluruh 531+ aset kantor cabang</a:t>
            </a:r>
          </a:p>
          <a:p>
            <a:pPr>
              <a:spcAft>
                <a:spcPts val="800"/>
              </a:spcAft>
            </a:pPr>
            <a:r>
              <a:rPr sz="1050" b="0" i="0">
                <a:solidFill>
                  <a:srgbClr val="E2E8F0"/>
                </a:solidFill>
                <a:latin typeface="Calibri"/>
              </a:rPr>
              <a:t>✔ Mitigasi risiko operasional dan perlindungan reputasi bank</a:t>
            </a:r>
          </a:p>
          <a:p>
            <a:pPr>
              <a:spcAft>
                <a:spcPts val="800"/>
              </a:spcAft>
            </a:pPr>
            <a:r>
              <a:rPr sz="1050" b="0" i="0">
                <a:solidFill>
                  <a:srgbClr val="E2E8F0"/>
                </a:solidFill>
                <a:latin typeface="Calibri"/>
              </a:rPr>
              <a:t>✔ Efisiensi belanja modal (CAPEX) &amp; biaya pemeliharaan</a:t>
            </a:r>
          </a:p>
        </p:txBody>
      </p:sp>
      <p:sp>
        <p:nvSpPr>
          <p:cNvPr id="9" name="Rounded Rectangle 8"/>
          <p:cNvSpPr/>
          <p:nvPr/>
        </p:nvSpPr>
        <p:spPr>
          <a:xfrm>
            <a:off x="3456432" y="1325880"/>
            <a:ext cx="2578608" cy="4846320"/>
          </a:xfrm>
          <a:prstGeom prst="roundRect">
            <a:avLst/>
          </a:prstGeom>
          <a:solidFill>
            <a:srgbClr val="EBF3FF"/>
          </a:solidFill>
          <a:ln w="12700">
            <a:solidFill>
              <a:srgbClr val="0D6E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024" y="1508760"/>
            <a:ext cx="2249424" cy="4480560"/>
          </a:xfrm>
          <a:prstGeom prst="rect">
            <a:avLst/>
          </a:prstGeom>
          <a:noFill/>
        </p:spPr>
        <p:txBody>
          <a:bodyPr wrap="square">
            <a:spAutoFit/>
          </a:bodyPr>
          <a:lstStyle/>
          <a:p>
            <a:pPr>
              <a:spcAft>
                <a:spcPts val="1200"/>
              </a:spcAft>
            </a:pPr>
            <a:r>
              <a:rPr sz="1300" b="1" i="0">
                <a:solidFill>
                  <a:srgbClr val="1E293B"/>
                </a:solidFill>
                <a:latin typeface="Calibri"/>
              </a:rPr>
              <a:t>Bagi Pimpinan Cabang &amp; Karyawan</a:t>
            </a:r>
          </a:p>
          <a:p>
            <a:pPr>
              <a:spcAft>
                <a:spcPts val="800"/>
              </a:spcAft>
            </a:pPr>
            <a:r>
              <a:rPr sz="1050" b="0" i="0">
                <a:solidFill>
                  <a:srgbClr val="1E293B"/>
                </a:solidFill>
                <a:latin typeface="Calibri"/>
              </a:rPr>
              <a:t>✔ Layanan nasabah di loket teller &amp; CS bebas dari antrean macet</a:t>
            </a:r>
          </a:p>
          <a:p>
            <a:pPr>
              <a:spcAft>
                <a:spcPts val="800"/>
              </a:spcAft>
            </a:pPr>
            <a:r>
              <a:rPr sz="1050" b="0" i="0">
                <a:solidFill>
                  <a:srgbClr val="1E293B"/>
                </a:solidFill>
                <a:latin typeface="Calibri"/>
              </a:rPr>
              <a:t>✔ Kepala Cabang memantau kondisi meja secara visual di denah</a:t>
            </a:r>
          </a:p>
          <a:p>
            <a:pPr>
              <a:spcAft>
                <a:spcPts val="800"/>
              </a:spcAft>
            </a:pPr>
            <a:r>
              <a:rPr sz="1050" b="0" i="0">
                <a:solidFill>
                  <a:srgbClr val="1E293B"/>
                </a:solidFill>
                <a:latin typeface="Calibri"/>
              </a:rPr>
              <a:t>✔ Pengaduan komputer kerja mudah dan cepat ditanggapi</a:t>
            </a:r>
          </a:p>
        </p:txBody>
      </p:sp>
      <p:sp>
        <p:nvSpPr>
          <p:cNvPr id="11" name="Rounded Rectangle 10"/>
          <p:cNvSpPr/>
          <p:nvPr/>
        </p:nvSpPr>
        <p:spPr>
          <a:xfrm>
            <a:off x="6181344" y="1325880"/>
            <a:ext cx="2578608" cy="4846320"/>
          </a:xfrm>
          <a:prstGeom prst="roundRect">
            <a:avLst/>
          </a:prstGeom>
          <a:solidFill>
            <a:srgbClr val="ECFDF3"/>
          </a:solidFill>
          <a:ln w="12700">
            <a:solidFill>
              <a:srgbClr val="1987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5936" y="1508760"/>
            <a:ext cx="2249424" cy="4480560"/>
          </a:xfrm>
          <a:prstGeom prst="rect">
            <a:avLst/>
          </a:prstGeom>
          <a:noFill/>
        </p:spPr>
        <p:txBody>
          <a:bodyPr wrap="square">
            <a:spAutoFit/>
          </a:bodyPr>
          <a:lstStyle/>
          <a:p>
            <a:pPr>
              <a:spcAft>
                <a:spcPts val="1200"/>
              </a:spcAft>
            </a:pPr>
            <a:r>
              <a:rPr sz="1300" b="1" i="0">
                <a:solidFill>
                  <a:srgbClr val="1E293B"/>
                </a:solidFill>
                <a:latin typeface="Calibri"/>
              </a:rPr>
              <a:t>Bagi Divisi SDM &amp; Umum (Sarpras)</a:t>
            </a:r>
          </a:p>
          <a:p>
            <a:pPr>
              <a:spcAft>
                <a:spcPts val="800"/>
              </a:spcAft>
            </a:pPr>
            <a:r>
              <a:rPr sz="1050" b="0" i="0">
                <a:solidFill>
                  <a:srgbClr val="1E293B"/>
                </a:solidFill>
                <a:latin typeface="Calibri"/>
              </a:rPr>
              <a:t>✔ Buku KIR tersusun otomatis dan selalu sinkron</a:t>
            </a:r>
          </a:p>
          <a:p>
            <a:pPr>
              <a:spcAft>
                <a:spcPts val="800"/>
              </a:spcAft>
            </a:pPr>
            <a:r>
              <a:rPr sz="1050" b="0" i="0">
                <a:solidFill>
                  <a:srgbClr val="1E293B"/>
                </a:solidFill>
                <a:latin typeface="Calibri"/>
              </a:rPr>
              <a:t>✔ Dokumen BAST serah terima karyawan tersimpan rapi</a:t>
            </a:r>
          </a:p>
          <a:p>
            <a:pPr>
              <a:spcAft>
                <a:spcPts val="800"/>
              </a:spcAft>
            </a:pPr>
            <a:r>
              <a:rPr sz="1050" b="0" i="0">
                <a:solidFill>
                  <a:srgbClr val="1E293B"/>
                </a:solidFill>
                <a:latin typeface="Calibri"/>
              </a:rPr>
              <a:t>✔ Memo pengadaan barang tercatat digital tanpa kertas hilang</a:t>
            </a:r>
          </a:p>
        </p:txBody>
      </p:sp>
      <p:sp>
        <p:nvSpPr>
          <p:cNvPr id="13" name="Rounded Rectangle 12"/>
          <p:cNvSpPr/>
          <p:nvPr/>
        </p:nvSpPr>
        <p:spPr>
          <a:xfrm>
            <a:off x="8906256" y="1325880"/>
            <a:ext cx="2578608" cy="484632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0848" y="1508760"/>
            <a:ext cx="2249424" cy="4480560"/>
          </a:xfrm>
          <a:prstGeom prst="rect">
            <a:avLst/>
          </a:prstGeom>
          <a:noFill/>
        </p:spPr>
        <p:txBody>
          <a:bodyPr wrap="square">
            <a:spAutoFit/>
          </a:bodyPr>
          <a:lstStyle/>
          <a:p>
            <a:pPr>
              <a:spcAft>
                <a:spcPts val="1200"/>
              </a:spcAft>
            </a:pPr>
            <a:r>
              <a:rPr sz="1300" b="1" i="0">
                <a:solidFill>
                  <a:srgbClr val="1E293B"/>
                </a:solidFill>
                <a:latin typeface="Calibri"/>
              </a:rPr>
              <a:t>Bagi Auditor Internal (SKAI)</a:t>
            </a:r>
          </a:p>
          <a:p>
            <a:pPr>
              <a:spcAft>
                <a:spcPts val="800"/>
              </a:spcAft>
            </a:pPr>
            <a:r>
              <a:rPr sz="1050" b="0" i="0">
                <a:solidFill>
                  <a:srgbClr val="1E293B"/>
                </a:solidFill>
                <a:latin typeface="Calibri"/>
              </a:rPr>
              <a:t>✔ Kesiapan audit 24/7 (Audit Readiness) tanpa persiapan panik</a:t>
            </a:r>
          </a:p>
          <a:p>
            <a:pPr>
              <a:spcAft>
                <a:spcPts val="800"/>
              </a:spcAft>
            </a:pPr>
            <a:r>
              <a:rPr sz="1050" b="0" i="0">
                <a:solidFill>
                  <a:srgbClr val="1E293B"/>
                </a:solidFill>
                <a:latin typeface="Calibri"/>
              </a:rPr>
              <a:t>✔ Jejak audit permanen yang tidak dapat diubah-ubah</a:t>
            </a:r>
          </a:p>
          <a:p>
            <a:pPr>
              <a:spcAft>
                <a:spcPts val="800"/>
              </a:spcAft>
            </a:pPr>
            <a:r>
              <a:rPr sz="1050" b="0" i="0">
                <a:solidFill>
                  <a:srgbClr val="1E293B"/>
                </a:solidFill>
                <a:latin typeface="Calibri"/>
              </a:rPr>
              <a:t>✔ Ekspor laporan kepatuhan resmi format PDF &amp; CSV satu klik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942"/>
          </a:solidFill>
          <a:ln>
            <a:solidFill>
              <a:srgbClr val="0F2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822960"/>
            <a:ext cx="10728655" cy="5212080"/>
          </a:xfrm>
          <a:prstGeom prst="roundRect">
            <a:avLst/>
          </a:prstGeom>
          <a:solidFill>
            <a:srgbClr val="1A3D5E"/>
          </a:solidFill>
          <a:ln w="19050">
            <a:solidFill>
              <a:srgbClr val="295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280160"/>
            <a:ext cx="9418320" cy="4297680"/>
          </a:xfrm>
          <a:prstGeom prst="rect">
            <a:avLst/>
          </a:prstGeom>
          <a:noFill/>
        </p:spPr>
        <p:txBody>
          <a:bodyPr wrap="square">
            <a:spAutoFit/>
          </a:bodyPr>
          <a:lstStyle/>
          <a:p>
            <a:pPr algn="ctr">
              <a:spcAft>
                <a:spcPts val="800"/>
              </a:spcAft>
            </a:pPr>
            <a:r>
              <a:rPr sz="3600" b="1" i="0">
                <a:solidFill>
                  <a:srgbClr val="FFFFFF"/>
                </a:solidFill>
                <a:latin typeface="Calibri"/>
              </a:rPr>
              <a:t>TERIMA KASIH</a:t>
            </a:r>
          </a:p>
          <a:p>
            <a:pPr algn="ctr">
              <a:spcAft>
                <a:spcPts val="2000"/>
              </a:spcAft>
            </a:pPr>
            <a:r>
              <a:rPr sz="1600" b="0" i="0">
                <a:solidFill>
                  <a:srgbClr val="93C5FD"/>
                </a:solidFill>
                <a:latin typeface="Calibri"/>
              </a:rPr>
              <a:t>Sesi Demonstrasi Langsung Aplikasi &amp; Diskusi / Tanya Jawab (Q&amp;A)</a:t>
            </a:r>
          </a:p>
          <a:p>
            <a:pPr algn="ctr">
              <a:spcAft>
                <a:spcPts val="1000"/>
              </a:spcAft>
            </a:pPr>
            <a:r>
              <a:rPr sz="1200" b="1" i="0">
                <a:solidFill>
                  <a:srgbClr val="FFFFFF"/>
                </a:solidFill>
                <a:latin typeface="Calibri"/>
              </a:rPr>
              <a:t>Tautan Portal Operasional Produksi:</a:t>
            </a:r>
          </a:p>
          <a:p>
            <a:pPr algn="ctr">
              <a:spcAft>
                <a:spcPts val="1600"/>
              </a:spcAft>
            </a:pPr>
            <a:r>
              <a:rPr sz="2000" b="1" i="0">
                <a:solidFill>
                  <a:srgbClr val="FEF08A"/>
                </a:solidFill>
                <a:latin typeface="Calibri"/>
              </a:rPr>
              <a:t>http://192.168.88.163</a:t>
            </a:r>
          </a:p>
          <a:p>
            <a:pPr algn="ctr"/>
            <a:r>
              <a:rPr sz="1200" b="0" i="0">
                <a:solidFill>
                  <a:srgbClr val="CBD5E1"/>
                </a:solidFill>
                <a:latin typeface="Calibri"/>
              </a:rPr>
              <a:t>Mari bersama-sama mewujudkan tata kelola operasional bank yang modern, efisien, dan andal.
PT. BPR Mitratama Arthabuana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